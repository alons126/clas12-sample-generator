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2edb73442d483a" /><Relationship Type="http://schemas.openxmlformats.org/officeDocument/2006/relationships/extended-properties" Target="/docProps/app.xml" Id="R430506155da841ef" /><Relationship Type="http://schemas.openxmlformats.org/officeDocument/2006/relationships/officeDocument" Target="/ppt/presentation.xml" Id="R67ed79d0aeb640c5" /></Relationships>
</file>

<file path=ppt/presentation.xml><?xml version="1.0" encoding="utf-8"?>
<p:presentation xmlns:p="http://schemas.openxmlformats.org/presentationml/2006/main">
  <p:sldMasterIdLst>
    <p:sldMasterId xmlns:r="http://schemas.openxmlformats.org/officeDocument/2006/relationships" id="2147483648" r:id="Rc39cdc9c5ece4f52"/>
  </p:sldMasterIdLst>
  <p:notesMasterIdLst>
    <p:notesMasterId xmlns:r="http://schemas.openxmlformats.org/officeDocument/2006/relationships" r:id="Raef696e08665418f"/>
  </p:notesMasterIdLst>
  <p:sldIdLst>
    <p:sldId xmlns:r="http://schemas.openxmlformats.org/officeDocument/2006/relationships" id="256" r:id="Rc35130f3c4354d3b"/>
    <p:sldId xmlns:r="http://schemas.openxmlformats.org/officeDocument/2006/relationships" id="257" r:id="R2d0497e03cfb4680"/>
    <p:sldId xmlns:r="http://schemas.openxmlformats.org/officeDocument/2006/relationships" id="258" r:id="Re3f5058a43934c72"/>
    <p:sldId xmlns:r="http://schemas.openxmlformats.org/officeDocument/2006/relationships" id="259" r:id="R8d724a67696a41a9"/>
    <p:sldId xmlns:r="http://schemas.openxmlformats.org/officeDocument/2006/relationships" id="260" r:id="Rb9d22715cb6b480a"/>
    <p:sldId xmlns:r="http://schemas.openxmlformats.org/officeDocument/2006/relationships" id="261" r:id="R3e8314a5270d4821"/>
    <p:sldId xmlns:r="http://schemas.openxmlformats.org/officeDocument/2006/relationships" id="262" r:id="Re3c81fe00afd4d69"/>
    <p:sldId xmlns:r="http://schemas.openxmlformats.org/officeDocument/2006/relationships" id="263" r:id="R239503ed6b364696"/>
    <p:sldId xmlns:r="http://schemas.openxmlformats.org/officeDocument/2006/relationships" id="264" r:id="Ra39b5c1a54654dfb"/>
    <p:sldId xmlns:r="http://schemas.openxmlformats.org/officeDocument/2006/relationships" id="265" r:id="R7c85e83977844a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a844385eab446b" /><Relationship Type="http://schemas.openxmlformats.org/officeDocument/2006/relationships/slideMaster" Target="/ppt/slideMasters/slideMaster1.xml" Id="Rc39cdc9c5ece4f52" /><Relationship Type="http://schemas.openxmlformats.org/officeDocument/2006/relationships/notesMaster" Target="/ppt/notesMasters/notesMaster1.xml" Id="Raef696e08665418f" /><Relationship Type="http://schemas.openxmlformats.org/officeDocument/2006/relationships/presProps" Target="/ppt/presProps.xml" Id="Rb00460d6a0a84429" /><Relationship Type="http://schemas.openxmlformats.org/officeDocument/2006/relationships/tableStyles" Target="/ppt/tableStyles.xml" Id="R8fefce14b7054718" /><Relationship Type="http://schemas.openxmlformats.org/officeDocument/2006/relationships/slide" Target="/ppt/slides/slide1.xml" Id="Rc35130f3c4354d3b" /><Relationship Type="http://schemas.openxmlformats.org/officeDocument/2006/relationships/slide" Target="/ppt/slides/slide2.xml" Id="R2d0497e03cfb4680" /><Relationship Type="http://schemas.openxmlformats.org/officeDocument/2006/relationships/slide" Target="/ppt/slides/slide3.xml" Id="Re3f5058a43934c72" /><Relationship Type="http://schemas.openxmlformats.org/officeDocument/2006/relationships/slide" Target="/ppt/slides/slide4.xml" Id="R8d724a67696a41a9" /><Relationship Type="http://schemas.openxmlformats.org/officeDocument/2006/relationships/slide" Target="/ppt/slides/slide5.xml" Id="Rb9d22715cb6b480a" /><Relationship Type="http://schemas.openxmlformats.org/officeDocument/2006/relationships/slide" Target="/ppt/slides/slide6.xml" Id="R3e8314a5270d4821" /><Relationship Type="http://schemas.openxmlformats.org/officeDocument/2006/relationships/slide" Target="/ppt/slides/slide7.xml" Id="Re3c81fe00afd4d69" /><Relationship Type="http://schemas.openxmlformats.org/officeDocument/2006/relationships/slide" Target="/ppt/slides/slide8.xml" Id="R239503ed6b364696" /><Relationship Type="http://schemas.openxmlformats.org/officeDocument/2006/relationships/slide" Target="/ppt/slides/slide9.xml" Id="Ra39b5c1a54654dfb" /><Relationship Type="http://schemas.openxmlformats.org/officeDocument/2006/relationships/slide" Target="/ppt/slides/slide10.xml" Id="R7c85e83977844a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724041c84d4c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ca8b8f285742f1" /><Relationship Type="http://schemas.openxmlformats.org/officeDocument/2006/relationships/notesMaster" Target="/ppt/notesMasters/notesMaster1.xml" Id="R8ca67688fd9149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48038a8c8d4ae5" /><Relationship Type="http://schemas.openxmlformats.org/officeDocument/2006/relationships/notesMaster" Target="/ppt/notesMasters/notesMaster1.xml" Id="Rce5e9c97299f4f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98b456b9c1464e" /><Relationship Type="http://schemas.openxmlformats.org/officeDocument/2006/relationships/notesMaster" Target="/ppt/notesMasters/notesMaster1.xml" Id="R68aa923b927e4f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4d50f6ce1748e8" /><Relationship Type="http://schemas.openxmlformats.org/officeDocument/2006/relationships/notesMaster" Target="/ppt/notesMasters/notesMaster1.xml" Id="R301be3520ed643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c5a7fdb50b45d8" /><Relationship Type="http://schemas.openxmlformats.org/officeDocument/2006/relationships/notesMaster" Target="/ppt/notesMasters/notesMaster1.xml" Id="R7f643caa21f54d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207871012f4fb3" /><Relationship Type="http://schemas.openxmlformats.org/officeDocument/2006/relationships/notesMaster" Target="/ppt/notesMasters/notesMaster1.xml" Id="R51780bb9fc3140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eaedb313c74b8a" /><Relationship Type="http://schemas.openxmlformats.org/officeDocument/2006/relationships/notesMaster" Target="/ppt/notesMasters/notesMaster1.xml" Id="R5058c152b8604b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8a5b2f423a47e3" /><Relationship Type="http://schemas.openxmlformats.org/officeDocument/2006/relationships/notesMaster" Target="/ppt/notesMasters/notesMaster1.xml" Id="R20e5ada5021c43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7df02cd49e4b7e" /><Relationship Type="http://schemas.openxmlformats.org/officeDocument/2006/relationships/notesMaster" Target="/ppt/notesMasters/notesMaster1.xml" Id="Rec7386216edd4b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db7e7170f64ef9" /><Relationship Type="http://schemas.openxmlformats.org/officeDocument/2006/relationships/notesMaster" Target="/ppt/notesMasters/notesMaster1.xml" Id="Rafd13de006cd4c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AGENTS.md; docs/architecture.md; docs/legacy-workflows.md. The uniform and GEMC archives are independent historical sources, not successive versions. Current repository HEAD 7584a68; uniform reference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 chain: run.csh invokes the Python build driver, which builds and selects clas12-uniform or clas12-generator-to-lund. Each executable validates RunConfig. Uniform generation produces deliberately unphysical acceptance events. Physical conversion copies supported existing GENIE truth momenta and does not run GENIE. Both use shared geometry and LundWriter, which serializes and splits output. Uniform monitoring must finish before publication of the completed manifest. Physical conversion produces no monitoring plots. Sources: README.md; docs/architecture.md; src/launcher/workflow.py; src/lund-generation/clas12-uniform/UniformGenerator.cpp; src/lund-generation/clas12-generator-to-lund/genie/GenieConverter.cpp; src/lund-generation/core/lund/LundWriter.cpp.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selection and validation use completed LUND manifests, configuration and CLI overrides. GCARD selects detector configuration and YAML selects reconstruction. setup_and_submit.csh supplies the environment and calls submit.py. The coordinator validates the selected GEMC module and executable and other inputs, previews by default, and only with --execute replaces mchipo/reconhipo and submits one Slurm array per sample. Existing LUND remains intact. Each protected payload task runs GEMC then recon-util. Sourcing run.csh intentionally refreshes the disposable ifarm checkout even before submission preview. Sources: README.md; run.csh; src/slurm-submission/setup_and_submit.csh; src/slurm-submission/submit.py; src/slurm-submission/resolve_inputs.py; src/slurm-submission/external/submit_GEMC_sample.sh; docs/gemc-reconstruction-batch-submission.md.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Repository sources (relative to CLAS12-sample-generator):</a:t>
            </a:r>
          </a:p>
          <a:p xmlns:a="http://schemas.openxmlformats.org/drawingml/2006/main">
            <a:r>
              <a:t>src/lund-generation/core/config/RunConfig.cpp</a:t>
            </a:r>
          </a:p>
          <a:p xmlns:a="http://schemas.openxmlformats.org/drawingml/2006/main">
            <a:r>
              <a:t>src/lund-generation/core/lund/LundWriter.cpp</a:t>
            </a:r>
          </a:p>
          <a:p xmlns:a="http://schemas.openxmlformats.org/drawingml/2006/main">
            <a:r>
              <a:t>src/lund-generation/core/lund/Event.h</a:t>
            </a:r>
          </a:p>
          <a:p xmlns:a="http://schemas.openxmlformats.org/drawingml/2006/main">
            <a:r>
              <a:t>src/lund-generation/clas12-generator-to-lund/PhysicalConverter.cpp</a:t>
            </a:r>
          </a:p>
          <a:p xmlns:a="http://schemas.openxmlformats.org/drawingml/2006/main">
            <a:r>
              <a:t>legacy/Uniform-sample-generator/Uniform_sample_generator.C</a:t>
            </a:r>
          </a:p>
          <a:p xmlns:a="http://schemas.openxmlformats.org/drawingml/2006/main">
            <a:r>
              <a:t>legacy/GEMC-samples/GENIE_to_LUND_converter/GENIE_to_LUND_converter.C</a:t>
            </a:r>
          </a:p>
          <a:p xmlns:a="http://schemas.openxmlformats.org/drawingml/2006/main">
            <a:r>
              <a:t/>
            </a:r>
          </a:p>
          <a:p xmlns:a="http://schemas.openxmlformats.org/drawingml/2006/main">
            <a:r>
              <a:t>Snapshot: working checkout at 7584a68, 21 September 2026. Uniform legacy submodule: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pinned upstream samples electron momentum uniformly from zero to beam and ep/en hadron momentum uniformly from 0.3 GeV/c to beam. Current mixed modes alternate uniform-p and uniform-1/p draws. FD pion and all CD modes have structural integration coverage, not full production validation.</a:t>
            </a:r>
          </a:p>
          <a:p xmlns:a="http://schemas.openxmlformats.org/drawingml/2006/main">
            <a:r>
              <a:t/>
            </a:r>
          </a:p>
          <a:p xmlns:a="http://schemas.openxmlformats.org/drawingml/2006/main">
            <a:r>
              <a:t>Repository sources (relative to CLAS12-sample-generator):</a:t>
            </a:r>
          </a:p>
          <a:p xmlns:a="http://schemas.openxmlformats.org/drawingml/2006/main">
            <a:r>
              <a:t>src/lund-generation/clas12-uniform/UniformGenerator.cpp</a:t>
            </a:r>
          </a:p>
          <a:p xmlns:a="http://schemas.openxmlformats.org/drawingml/2006/main">
            <a:r>
              <a:t>src/lund-generation/clas12-uniform/UniformConfig.h</a:t>
            </a:r>
          </a:p>
          <a:p xmlns:a="http://schemas.openxmlformats.org/drawingml/2006/main">
            <a:r>
              <a:t>legacy/Uniform-sample-generator/Generate_uniform_event.C</a:t>
            </a:r>
          </a:p>
          <a:p xmlns:a="http://schemas.openxmlformats.org/drawingml/2006/main">
            <a:r>
              <a:t>config/samples/uniform-1e-2070MeV.conf</a:t>
            </a:r>
          </a:p>
          <a:p xmlns:a="http://schemas.openxmlformats.org/drawingml/2006/main">
            <a:r>
              <a:t>docs/uniform-samples.md</a:t>
            </a:r>
          </a:p>
          <a:p xmlns:a="http://schemas.openxmlformats.org/drawingml/2006/main">
            <a:r>
              <a:t/>
            </a:r>
          </a:p>
          <a:p xmlns:a="http://schemas.openxmlformats.org/drawingml/2006/main">
            <a:r>
              <a:t>Snapshot: working checkout at 7584a68, 21 September 2026. Uniform legacy submodule: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converter copies supported input momenta and calculates energies on the maintained mass shell. It preserves QE/MEC/RES/DIS process codes, resid placement and stable particle ordering. The seven-entry regression fixture has six retained events: legacy writes one, current writes six. This is a fixture-specific correction, not a throughput metric.</a:t>
            </a:r>
          </a:p>
          <a:p xmlns:a="http://schemas.openxmlformats.org/drawingml/2006/main">
            <a:r>
              <a:t/>
            </a:r>
          </a:p>
          <a:p xmlns:a="http://schemas.openxmlformats.org/drawingml/2006/main">
            <a:r>
              <a:t>Repository sources (relative to CLAS12-sample-generator):</a:t>
            </a:r>
          </a:p>
          <a:p xmlns:a="http://schemas.openxmlformats.org/drawingml/2006/main">
            <a:r>
              <a:t>src/lund-generation/clas12-generator-to-lund/genie/GenieConverter.cpp</a:t>
            </a:r>
          </a:p>
          <a:p xmlns:a="http://schemas.openxmlformats.org/drawingml/2006/main">
            <a:r>
              <a:t>legacy/GEMC-samples/GENIE_to_LUND_converter/GENIE_to_LUND_converter.C</a:t>
            </a:r>
          </a:p>
          <a:p xmlns:a="http://schemas.openxmlformats.org/drawingml/2006/main">
            <a:r>
              <a:t>src/lund-generation/tests/legacy_parity.py</a:t>
            </a:r>
          </a:p>
          <a:p xmlns:a="http://schemas.openxmlformats.org/drawingml/2006/main">
            <a:r>
              <a:t>src/lund-generation/tests/integration.py</a:t>
            </a:r>
          </a:p>
          <a:p xmlns:a="http://schemas.openxmlformats.org/drawingml/2006/main">
            <a:r>
              <a:t/>
            </a:r>
          </a:p>
          <a:p xmlns:a="http://schemas.openxmlformats.org/drawingml/2006/main">
            <a:r>
              <a:t>Snapshot: working checkout at 7584a68, 21 September 2026. Uniform legacy submodule: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Geometry and nuclear A/Z remain independently overridable. The pinned uniform snapshot selects 1-foil-small and A=Z=1, whereas maintained production Ar profiles resolve Ar geometry and A=40/Z=18. The tester now samples the selected geometry instead of the archived fixed point. Current constants.h is authoritative: pi_zero is 0.13498 GeV/c²; older validation prose still mentions the archived value. Seed zero is automatic and cannot by itself replay a run.</a:t>
            </a:r>
          </a:p>
          <a:p xmlns:a="http://schemas.openxmlformats.org/drawingml/2006/main">
            <a:r>
              <a:t/>
            </a:r>
          </a:p>
          <a:p xmlns:a="http://schemas.openxmlformats.org/drawingml/2006/main">
            <a:r>
              <a:t>Repository sources (relative to CLAS12-sample-generator):</a:t>
            </a:r>
          </a:p>
          <a:p xmlns:a="http://schemas.openxmlformats.org/drawingml/2006/main">
            <a:r>
              <a:t>src/lund-generation/core/config/RgmTarget.cpp</a:t>
            </a:r>
          </a:p>
          <a:p xmlns:a="http://schemas.openxmlformats.org/drawingml/2006/main">
            <a:r>
              <a:t>src/lund-generation/core/lund/LundWriter.cpp</a:t>
            </a:r>
          </a:p>
          <a:p xmlns:a="http://schemas.openxmlformats.org/drawingml/2006/main">
            <a:r>
              <a:t>src/lund-generation/core/support/constants.h</a:t>
            </a:r>
          </a:p>
          <a:p xmlns:a="http://schemas.openxmlformats.org/drawingml/2006/main">
            <a:r>
              <a:t>src/lund-generation/core/geometry/TargetGeometry.cpp</a:t>
            </a:r>
          </a:p>
          <a:p xmlns:a="http://schemas.openxmlformats.org/drawingml/2006/main">
            <a:r>
              <a:t>src/lund-generation/clas12-uniform/UniformMonitoring.cpp</a:t>
            </a:r>
          </a:p>
          <a:p xmlns:a="http://schemas.openxmlformats.org/drawingml/2006/main">
            <a:r>
              <a:t>docs/data-contracts.md</a:t>
            </a:r>
          </a:p>
          <a:p xmlns:a="http://schemas.openxmlformats.org/drawingml/2006/main">
            <a:r>
              <a:t/>
            </a:r>
          </a:p>
          <a:p xmlns:a="http://schemas.openxmlformats.org/drawingml/2006/main">
            <a:r>
              <a:t>Snapshot: working checkout at 7584a68, 21 September 2026. Uniform legacy submodule: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is the submission coordinator default. The sourced run.csh launcher still performs the documented disposable-checkout synchronization before dispatch. Execution replaces selected simulation output directories and preserves LUND inputs. The protected payload owns detector commands. GEMC falls back to 5.14 and the coordinator loads/verifies the selected module environment.</a:t>
            </a:r>
          </a:p>
          <a:p xmlns:a="http://schemas.openxmlformats.org/drawingml/2006/main">
            <a:r>
              <a:t/>
            </a:r>
          </a:p>
          <a:p xmlns:a="http://schemas.openxmlformats.org/drawingml/2006/main">
            <a:r>
              <a:t>Repository sources (relative to CLAS12-sample-generator):</a:t>
            </a:r>
          </a:p>
          <a:p xmlns:a="http://schemas.openxmlformats.org/drawingml/2006/main">
            <a:r>
              <a:t>src/slurm-submission/submit.py</a:t>
            </a:r>
          </a:p>
          <a:p xmlns:a="http://schemas.openxmlformats.org/drawingml/2006/main">
            <a:r>
              <a:t>src/slurm-submission/resolve_inputs.py</a:t>
            </a:r>
          </a:p>
          <a:p xmlns:a="http://schemas.openxmlformats.org/drawingml/2006/main">
            <a:r>
              <a:t>src/slurm-submission/external/submit_GEMC_sample.sh</a:t>
            </a:r>
          </a:p>
          <a:p xmlns:a="http://schemas.openxmlformats.org/drawingml/2006/main">
            <a:r>
              <a:t>legacy/GEMC-samples/scripts/setup_and_submission_scripts/uniform_setup_and_submit.csh</a:t>
            </a:r>
          </a:p>
          <a:p xmlns:a="http://schemas.openxmlformats.org/drawingml/2006/main">
            <a:r>
              <a:t>legacy/GEMC-samples/scripts/setup_and_submission_scripts/genie_job_submission_script.csh</a:t>
            </a:r>
          </a:p>
          <a:p xmlns:a="http://schemas.openxmlformats.org/drawingml/2006/main">
            <a:r>
              <a:t>run.csh</a:t>
            </a:r>
          </a:p>
          <a:p xmlns:a="http://schemas.openxmlformats.org/drawingml/2006/main">
            <a:r>
              <a:t>docs/ssh-workflow.md</a:t>
            </a:r>
          </a:p>
          <a:p xmlns:a="http://schemas.openxmlformats.org/drawingml/2006/main">
            <a:r>
              <a:t/>
            </a:r>
          </a:p>
          <a:p xmlns:a="http://schemas.openxmlformats.org/drawingml/2006/main">
            <a:r>
              <a:t>Snapshot: working checkout at 7584a68, 21 September 2026. Uniform legacy submodule: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Repository sources (relative to CLAS12-sample-generator):</a:t>
            </a:r>
          </a:p>
          <a:p xmlns:a="http://schemas.openxmlformats.org/drawingml/2006/main">
            <a:r>
              <a:t>AGENTS.md</a:t>
            </a:r>
          </a:p>
          <a:p xmlns:a="http://schemas.openxmlformats.org/drawingml/2006/main">
            <a:r>
              <a:t>README.md</a:t>
            </a:r>
          </a:p>
          <a:p xmlns:a="http://schemas.openxmlformats.org/drawingml/2006/main">
            <a:r>
              <a:t>docs/index.md</a:t>
            </a:r>
          </a:p>
          <a:p xmlns:a="http://schemas.openxmlformats.org/drawingml/2006/main">
            <a:r>
              <a:t>docs/source-documentation.md</a:t>
            </a:r>
          </a:p>
          <a:p xmlns:a="http://schemas.openxmlformats.org/drawingml/2006/main">
            <a:r>
              <a:t>CMakePresets.json</a:t>
            </a:r>
          </a:p>
          <a:p xmlns:a="http://schemas.openxmlformats.org/drawingml/2006/main">
            <a:r>
              <a:t>config/run.json</a:t>
            </a:r>
          </a:p>
          <a:p xmlns:a="http://schemas.openxmlformats.org/drawingml/2006/main">
            <a:r>
              <a:t>docs/configuration.md</a:t>
            </a:r>
          </a:p>
          <a:p xmlns:a="http://schemas.openxmlformats.org/drawingml/2006/main">
            <a:r>
              <a:t>docs/architecture.md</a:t>
            </a:r>
          </a:p>
          <a:p xmlns:a="http://schemas.openxmlformats.org/drawingml/2006/main">
            <a:r>
              <a:t/>
            </a:r>
          </a:p>
          <a:p xmlns:a="http://schemas.openxmlformats.org/drawingml/2006/main">
            <a:r>
              <a:t>Snapshot: working checkout at 7584a68, 21 September 2026. Uniform legacy submodule: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summarizes inspected test definitions and documented coverage. It does not report a fresh full test run. Nine tests are registered when both workflows and csh/tcsh are enabled. Exact legacy parity requires matched seeds, settings and explicit handling of intentional mass, sampling and tester-vertex differences. Some validation prose predates current constants and profiles; use source and fresh executable results as evidence.</a:t>
            </a:r>
          </a:p>
          <a:p xmlns:a="http://schemas.openxmlformats.org/drawingml/2006/main">
            <a:r>
              <a:t/>
            </a:r>
          </a:p>
          <a:p xmlns:a="http://schemas.openxmlformats.org/drawingml/2006/main">
            <a:r>
              <a:t>Repository sources (relative to CLAS12-sample-generator):</a:t>
            </a:r>
          </a:p>
          <a:p xmlns:a="http://schemas.openxmlformats.org/drawingml/2006/main">
            <a:r>
              <a:t>docs/validation.md</a:t>
            </a:r>
          </a:p>
          <a:p xmlns:a="http://schemas.openxmlformats.org/drawingml/2006/main">
            <a:r>
              <a:t>src/lund-generation/tests/CMakeLists.txt</a:t>
            </a:r>
          </a:p>
          <a:p xmlns:a="http://schemas.openxmlformats.org/drawingml/2006/main">
            <a:r>
              <a:t>src/lund-generation/tests/distributions.py</a:t>
            </a:r>
          </a:p>
          <a:p xmlns:a="http://schemas.openxmlformats.org/drawingml/2006/main">
            <a:r>
              <a:t>src/lund-generation/tests/legacy_parity.py</a:t>
            </a:r>
          </a:p>
          <a:p xmlns:a="http://schemas.openxmlformats.org/drawingml/2006/main">
            <a:r>
              <a:t>src/slurm-submission/tests/submission_parity.py</a:t>
            </a:r>
          </a:p>
          <a:p xmlns:a="http://schemas.openxmlformats.org/drawingml/2006/main">
            <a:r>
              <a:t>src/launcher/tests/launcher.py</a:t>
            </a:r>
          </a:p>
          <a:p xmlns:a="http://schemas.openxmlformats.org/drawingml/2006/main">
            <a:r>
              <a:t/>
            </a:r>
          </a:p>
          <a:p xmlns:a="http://schemas.openxmlformats.org/drawingml/2006/main">
            <a:r>
              <a:t>Snapshot: working checkout at 7584a68, 21 September 2026. Uniform legacy submodule: 1ed077e5caff7b7dfdbe42ebf172fadb3531a79b.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52c424570944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ea8bb7f8854b01" /><Relationship Type="http://schemas.openxmlformats.org/officeDocument/2006/relationships/slideLayout" Target="/ppt/slideLayouts/slideLayout1.xml" Id="R9a92476f448342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92476f448342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4eb7124fe94821" /><Relationship Type="http://schemas.openxmlformats.org/officeDocument/2006/relationships/notesSlide" Target="/ppt/notesSlides/notesSlide1.xml" Id="Raa3d717fdd844d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ef953887894d9d" /><Relationship Type="http://schemas.openxmlformats.org/officeDocument/2006/relationships/notesSlide" Target="/ppt/notesSlides/notesSlide2.xml" Id="Ra92cad82f4fe47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9bc8b25f5b4c03" /><Relationship Type="http://schemas.openxmlformats.org/officeDocument/2006/relationships/notesSlide" Target="/ppt/notesSlides/notesSlide3.xml" Id="R99d697a1969a49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4a307b92514a94" /><Relationship Type="http://schemas.openxmlformats.org/officeDocument/2006/relationships/notesSlide" Target="/ppt/notesSlides/notesSlide4.xml" Id="R1b947284e50240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5aec70af044deb" /><Relationship Type="http://schemas.openxmlformats.org/officeDocument/2006/relationships/notesSlide" Target="/ppt/notesSlides/notesSlide5.xml" Id="R145116a1b9ab4d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b42549af0a48a2" /><Relationship Type="http://schemas.openxmlformats.org/officeDocument/2006/relationships/notesSlide" Target="/ppt/notesSlides/notesSlide6.xml" Id="R2b6431b90f5042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7305b03c464a96" /><Relationship Type="http://schemas.openxmlformats.org/officeDocument/2006/relationships/notesSlide" Target="/ppt/notesSlides/notesSlide7.xml" Id="Rcbdd1e585ce84d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79706a9ae448e0" /><Relationship Type="http://schemas.openxmlformats.org/officeDocument/2006/relationships/notesSlide" Target="/ppt/notesSlides/notesSlide8.xml" Id="R054549e62ee54d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6388fb21354d51" /><Relationship Type="http://schemas.openxmlformats.org/officeDocument/2006/relationships/notesSlide" Target="/ppt/notesSlides/notesSlide9.xml" Id="R1619698dd19047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ff2946edba46ca" /><Relationship Type="http://schemas.openxmlformats.org/officeDocument/2006/relationships/notesSlide" Target="/ppt/notesSlides/notesSlide10.xml" Id="Rf0db6954fade4240" /></Relationships>
</file>

<file path=ppt/slides/slide1.xml><?xml version="1.0" encoding="utf-8"?>
<p:sld xmlns:p="http://schemas.openxmlformats.org/presentationml/2006/main">
  <p:cSld>
    <p:bg>
      <p:bgPr>
        <a:solidFill xmlns:a="http://schemas.openxmlformats.org/drawingml/2006/main">
          <a:srgbClr val="182E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05A236-1AB1-4DC6-96CC-E1F9E88DFA41}"/>
              </a:ext>
            </a:extLst>
          </p:cNvPr>
          <p:cNvSpPr>
            <a:spLocks xmlns:a="http://schemas.openxmlformats.org/drawingml/2006/main" noGrp="1"/>
          </p:cNvSpPr>
          <p:nvPr/>
        </p:nvSpPr>
        <p:spPr>
          <a:xfrm xmlns:a="http://schemas.openxmlformats.org/drawingml/2006/main">
            <a:off x="609600" y="90487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CLAS12 sample generator</a:t>
            </a:r>
          </a:p>
        </p:txBody>
      </p:sp>
      <p:sp>
        <p:nvSpPr>
          <p:cNvPr id="2" name="">
            <a:extLst xmlns:a="http://schemas.openxmlformats.org/drawingml/2006/main">
              <a:ext uri="{FF2B5EF4-FFF2-40B4-BE49-F238E27FC236}">
                <a16:creationId xmlns:a16="http://schemas.microsoft.com/office/drawing/2014/main" id="{1F151723-B467-4344-9765-338769A27AFA}"/>
              </a:ext>
            </a:extLst>
          </p:cNvPr>
          <p:cNvSpPr>
            <a:spLocks xmlns:a="http://schemas.openxmlformats.org/drawingml/2006/main" noGrp="1"/>
          </p:cNvSpPr>
          <p:nvPr/>
        </p:nvSpPr>
        <p:spPr>
          <a:xfrm xmlns:a="http://schemas.openxmlformats.org/drawingml/2006/main">
            <a:off x="647700" y="26955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83D1CD"/>
                </a:solidFill>
                <a:latin typeface="Helvetica Neue"/>
                <a:ea typeface="Helvetica Neue"/>
                <a:cs typeface="Helvetica Neue"/>
              </a:defRPr>
            </a:pPr>
            <a:r>
              <a:rPr sz="3000" b="0">
                <a:solidFill>
                  <a:srgbClr val="83D1CD"/>
                </a:solidFill>
                <a:latin typeface="Helvetica Neue"/>
                <a:ea typeface="Helvetica Neue"/>
                <a:cs typeface="Helvetica Neue"/>
              </a:rPr>
              <a:t>Implemented changes</a:t>
            </a:r>
          </a:p>
        </p:txBody>
      </p:sp>
      <p:sp>
        <p:nvSpPr>
          <p:cNvPr id="3" name="">
            <a:extLst xmlns:a="http://schemas.openxmlformats.org/drawingml/2006/main">
              <a:ext uri="{FF2B5EF4-FFF2-40B4-BE49-F238E27FC236}">
                <a16:creationId xmlns:a16="http://schemas.microsoft.com/office/drawing/2014/main" id="{A619803B-AB52-4C7F-81EA-609FD82D9C18}"/>
              </a:ext>
            </a:extLst>
          </p:cNvPr>
          <p:cNvSpPr>
            <a:spLocks xmlns:a="http://schemas.openxmlformats.org/drawingml/2006/main" noGrp="1"/>
          </p:cNvSpPr>
          <p:nvPr/>
        </p:nvSpPr>
        <p:spPr>
          <a:xfrm xmlns:a="http://schemas.openxmlformats.org/drawingml/2006/main">
            <a:off x="647700" y="3905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Create LUND files</a:t>
            </a:r>
          </a:p>
          <a:p xmlns:a="http://schemas.openxmlformats.org/drawingml/2006/main">
            <a:pPr>
              <a:buNone/>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Submit GEMC and reconstruction jobs on ifarm</a:t>
            </a:r>
          </a:p>
        </p:txBody>
      </p:sp>
      <p:sp>
        <p:nvSpPr>
          <p:cNvPr id="4" name="">
            <a:extLst xmlns:a="http://schemas.openxmlformats.org/drawingml/2006/main">
              <a:ext uri="{FF2B5EF4-FFF2-40B4-BE49-F238E27FC236}">
                <a16:creationId xmlns:a16="http://schemas.microsoft.com/office/drawing/2014/main" id="{4B30E0C5-479A-458F-8F5B-CC2B4BAE741B}"/>
              </a:ext>
            </a:extLst>
          </p:cNvPr>
          <p:cNvSpPr>
            <a:spLocks xmlns:a="http://schemas.openxmlformats.org/drawingml/2006/main" noGrp="1"/>
          </p:cNvSpPr>
          <p:nvPr/>
        </p:nvSpPr>
        <p:spPr>
          <a:xfrm xmlns:a="http://schemas.openxmlformats.org/drawingml/2006/main">
            <a:off x="647700" y="59245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4CFD7"/>
                </a:solidFill>
                <a:latin typeface="Helvetica Neue"/>
                <a:ea typeface="Helvetica Neue"/>
                <a:cs typeface="Helvetica Neue"/>
              </a:defRPr>
            </a:pPr>
            <a:r>
              <a:rPr sz="1650" b="0">
                <a:solidFill>
                  <a:srgbClr val="C4CFD7"/>
                </a:solidFill>
                <a:latin typeface="Helvetica Neue"/>
                <a:ea typeface="Helvetica Neue"/>
                <a:cs typeface="Helvetica Neue"/>
              </a:rPr>
              <a:t>Current implementation compared with both legacy repositories</a:t>
            </a:r>
          </a:p>
        </p:txBody>
      </p:sp>
    </p:spTree>
    <p:extLst>
      <p:ext uri="{BB962C8B-B14F-4D97-AF65-F5344CB8AC3E}">
        <p14:creationId xmlns:p14="http://schemas.microsoft.com/office/powerpoint/2010/main" val="981467248"/>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E517B4-3DC8-4F26-8EB8-FA8B812F4A3A}"/>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Create LUND: uniform and physical sources</a:t>
            </a:r>
          </a:p>
        </p:txBody>
      </p:sp>
      <p:sp>
        <p:nvSpPr>
          <p:cNvPr id="2" name="">
            <a:extLst xmlns:a="http://schemas.openxmlformats.org/drawingml/2006/main">
              <a:ext uri="{FF2B5EF4-FFF2-40B4-BE49-F238E27FC236}">
                <a16:creationId xmlns:a16="http://schemas.microsoft.com/office/drawing/2014/main" id="{3A5C60E5-EDD8-4E06-81A3-0F818E99E1FE}"/>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3F41406F-978C-4143-BA83-4F2EC004C45D}"/>
              </a:ext>
            </a:extLst>
          </p:cNvPr>
          <p:cNvSpPr>
            <a:spLocks xmlns:a="http://schemas.openxmlformats.org/drawingml/2006/main" noGrp="1"/>
          </p:cNvSpPr>
          <p:nvPr/>
        </p:nvSpPr>
        <p:spPr>
          <a:xfrm xmlns:a="http://schemas.openxmlformats.org/drawingml/2006/main">
            <a:off x="628650" y="16097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37C87"/>
                </a:solidFill>
                <a:latin typeface="Helvetica Neue"/>
                <a:ea typeface="Helvetica Neue"/>
                <a:cs typeface="Helvetica Neue"/>
              </a:defRPr>
            </a:pPr>
            <a:r>
              <a:rPr sz="2325" b="1">
                <a:solidFill>
                  <a:srgbClr val="137C87"/>
                </a:solidFill>
                <a:latin typeface="Helvetica Neue"/>
                <a:ea typeface="Helvetica Neue"/>
                <a:cs typeface="Helvetica Neue"/>
              </a:rPr>
              <a:t/>
            </a:r>
          </a:p>
        </p:txBody>
      </p:sp>
      <p:sp>
        <p:nvSpPr>
          <p:cNvPr id="4" name="">
            <a:extLst xmlns:a="http://schemas.openxmlformats.org/drawingml/2006/main">
              <a:ext uri="{FF2B5EF4-FFF2-40B4-BE49-F238E27FC236}">
                <a16:creationId xmlns:a16="http://schemas.microsoft.com/office/drawing/2014/main" id="{E61EAC12-BB09-4154-B8EB-A3BDE7818F79}"/>
              </a:ext>
            </a:extLst>
          </p:cNvPr>
          <p:cNvSpPr>
            <a:spLocks xmlns:a="http://schemas.openxmlformats.org/drawingml/2006/main" noGrp="1"/>
          </p:cNvSpPr>
          <p:nvPr/>
        </p:nvSpPr>
        <p:spPr>
          <a:xfrm xmlns:a="http://schemas.openxmlformats.org/drawingml/2006/main">
            <a:off x="628650" y="21526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2E40"/>
                </a:solidFill>
                <a:latin typeface="Helvetica Neue"/>
                <a:ea typeface="Helvetica Neue"/>
                <a:cs typeface="Helvetica Neue"/>
              </a:defRPr>
            </a:pPr>
            <a:r>
              <a:rPr sz="2025" b="0">
                <a:solidFill>
                  <a:srgbClr val="182E40"/>
                </a:solidFill>
                <a:latin typeface="Helvetica Neue"/>
                <a:ea typeface="Helvetica Neue"/>
                <a:cs typeface="Helvetica Neue"/>
              </a:rPr>
              <a:t/>
            </a:r>
          </a:p>
        </p:txBody>
      </p:sp>
      <p:sp>
        <p:nvSpPr>
          <p:cNvPr id="5" name="">
            <a:extLst xmlns:a="http://schemas.openxmlformats.org/drawingml/2006/main">
              <a:ext uri="{FF2B5EF4-FFF2-40B4-BE49-F238E27FC236}">
                <a16:creationId xmlns:a16="http://schemas.microsoft.com/office/drawing/2014/main" id="{7E346BE8-AD26-4917-A475-4587FD50CF26}"/>
              </a:ext>
            </a:extLst>
          </p:cNvPr>
          <p:cNvSpPr>
            <a:spLocks xmlns:a="http://schemas.openxmlformats.org/drawingml/2006/main" noGrp="1"/>
          </p:cNvSpPr>
          <p:nvPr/>
        </p:nvSpPr>
        <p:spPr>
          <a:xfrm xmlns:a="http://schemas.openxmlformats.org/drawingml/2006/main">
            <a:off x="628650" y="27146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2E40"/>
                </a:solidFill>
                <a:latin typeface="Helvetica Neue"/>
                <a:ea typeface="Helvetica Neue"/>
                <a:cs typeface="Helvetica Neue"/>
              </a:defRPr>
            </a:pPr>
            <a:r>
              <a:rPr sz="2025" b="0">
                <a:solidFill>
                  <a:srgbClr val="182E40"/>
                </a:solidFill>
                <a:latin typeface="Helvetica Neue"/>
                <a:ea typeface="Helvetica Neue"/>
                <a:cs typeface="Helvetica Neue"/>
              </a:rPr>
              <a:t/>
            </a:r>
          </a:p>
        </p:txBody>
      </p:sp>
      <p:sp>
        <p:nvSpPr>
          <p:cNvPr id="6" name="">
            <a:extLst xmlns:a="http://schemas.openxmlformats.org/drawingml/2006/main">
              <a:ext uri="{FF2B5EF4-FFF2-40B4-BE49-F238E27FC236}">
                <a16:creationId xmlns:a16="http://schemas.microsoft.com/office/drawing/2014/main" id="{DB4CCADE-5A68-4063-B4B2-A3AC80BB5E83}"/>
              </a:ext>
            </a:extLst>
          </p:cNvPr>
          <p:cNvSpPr>
            <a:spLocks xmlns:a="http://schemas.openxmlformats.org/drawingml/2006/main" noGrp="1"/>
          </p:cNvSpPr>
          <p:nvPr/>
        </p:nvSpPr>
        <p:spPr>
          <a:xfrm xmlns:a="http://schemas.openxmlformats.org/drawingml/2006/main">
            <a:off x="628650" y="37909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37C87"/>
                </a:solidFill>
                <a:latin typeface="Helvetica Neue"/>
                <a:ea typeface="Helvetica Neue"/>
                <a:cs typeface="Helvetica Neue"/>
              </a:defRPr>
            </a:pPr>
            <a:r>
              <a:rPr sz="2325" b="1">
                <a:solidFill>
                  <a:srgbClr val="137C87"/>
                </a:solidFill>
                <a:latin typeface="Helvetica Neue"/>
                <a:ea typeface="Helvetica Neue"/>
                <a:cs typeface="Helvetica Neue"/>
              </a:rPr>
              <a:t/>
            </a:r>
          </a:p>
        </p:txBody>
      </p:sp>
      <p:sp>
        <p:nvSpPr>
          <p:cNvPr id="7" name="">
            <a:extLst xmlns:a="http://schemas.openxmlformats.org/drawingml/2006/main">
              <a:ext uri="{FF2B5EF4-FFF2-40B4-BE49-F238E27FC236}">
                <a16:creationId xmlns:a16="http://schemas.microsoft.com/office/drawing/2014/main" id="{DADA894E-7D14-401E-9159-355F7C517A0C}"/>
              </a:ext>
            </a:extLst>
          </p:cNvPr>
          <p:cNvSpPr>
            <a:spLocks xmlns:a="http://schemas.openxmlformats.org/drawingml/2006/main" noGrp="1"/>
          </p:cNvSpPr>
          <p:nvPr/>
        </p:nvSpPr>
        <p:spPr>
          <a:xfrm xmlns:a="http://schemas.openxmlformats.org/drawingml/2006/main">
            <a:off x="628650" y="4333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2E40"/>
                </a:solidFill>
                <a:latin typeface="Helvetica Neue"/>
                <a:ea typeface="Helvetica Neue"/>
                <a:cs typeface="Helvetica Neue"/>
              </a:defRPr>
            </a:pPr>
            <a:r>
              <a:rPr sz="2025" b="0">
                <a:solidFill>
                  <a:srgbClr val="182E40"/>
                </a:solidFill>
                <a:latin typeface="Helvetica Neue"/>
                <a:ea typeface="Helvetica Neue"/>
                <a:cs typeface="Helvetica Neue"/>
              </a:rPr>
              <a:t/>
            </a:r>
          </a:p>
        </p:txBody>
      </p:sp>
      <p:sp>
        <p:nvSpPr>
          <p:cNvPr id="8" name="">
            <a:extLst xmlns:a="http://schemas.openxmlformats.org/drawingml/2006/main">
              <a:ext uri="{FF2B5EF4-FFF2-40B4-BE49-F238E27FC236}">
                <a16:creationId xmlns:a16="http://schemas.microsoft.com/office/drawing/2014/main" id="{6D118509-1DEB-4A6A-8EF1-BEF85CE5038F}"/>
              </a:ext>
            </a:extLst>
          </p:cNvPr>
          <p:cNvSpPr>
            <a:spLocks xmlns:a="http://schemas.openxmlformats.org/drawingml/2006/main" noGrp="1"/>
          </p:cNvSpPr>
          <p:nvPr/>
        </p:nvSpPr>
        <p:spPr>
          <a:xfrm xmlns:a="http://schemas.openxmlformats.org/drawingml/2006/main">
            <a:off x="628650" y="48958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2E40"/>
                </a:solidFill>
                <a:latin typeface="Helvetica Neue"/>
                <a:ea typeface="Helvetica Neue"/>
                <a:cs typeface="Helvetica Neue"/>
              </a:defRPr>
            </a:pPr>
            <a:r>
              <a:rPr sz="2025" b="0">
                <a:solidFill>
                  <a:srgbClr val="182E40"/>
                </a:solidFill>
                <a:latin typeface="Helvetica Neue"/>
                <a:ea typeface="Helvetica Neue"/>
                <a:cs typeface="Helvetica Neue"/>
              </a:rPr>
              <a:t/>
            </a:r>
          </a:p>
        </p:txBody>
      </p:sp>
      <p:sp>
        <p:nvSpPr>
          <p:cNvPr id="9" name="">
            <a:extLst xmlns:a="http://schemas.openxmlformats.org/drawingml/2006/main">
              <a:ext uri="{FF2B5EF4-FFF2-40B4-BE49-F238E27FC236}">
                <a16:creationId xmlns:a16="http://schemas.microsoft.com/office/drawing/2014/main" id="{625B4035-6565-4BBE-B8FF-B31486ECCF3D}"/>
              </a:ext>
            </a:extLst>
          </p:cNvPr>
          <p:cNvSpPr>
            <a:spLocks xmlns:a="http://schemas.openxmlformats.org/drawingml/2006/main" noGrp="1"/>
          </p:cNvSpPr>
          <p:nvPr/>
        </p:nvSpPr>
        <p:spPr>
          <a:xfrm xmlns:a="http://schemas.openxmlformats.org/drawingml/2006/main">
            <a:off x="628650" y="57721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574"/>
                </a:solidFill>
                <a:latin typeface="Helvetica Neue"/>
                <a:ea typeface="Helvetica Neue"/>
                <a:cs typeface="Helvetica Neue"/>
              </a:defRPr>
            </a:pPr>
            <a:r>
              <a:rPr sz="1650" b="0">
                <a:solidFill>
                  <a:srgbClr val="526574"/>
                </a:solidFill>
                <a:latin typeface="Helvetica Neue"/>
                <a:ea typeface="Helvetica Neue"/>
                <a:cs typeface="Helvetica Neue"/>
              </a:rPr>
              <a:t/>
            </a:r>
          </a:p>
        </p:txBody>
      </p:sp>
      <p:sp>
        <p:nvSpPr>
          <p:cNvPr id="11" name="">
            <a:extLst xmlns:a="http://schemas.openxmlformats.org/drawingml/2006/main">
              <a:ext uri="{FF2B5EF4-FFF2-40B4-BE49-F238E27FC236}">
                <a16:creationId xmlns:a16="http://schemas.microsoft.com/office/drawing/2014/main" id="{F6064A5A-B4FD-435F-96E5-C689F8B65E81}"/>
              </a:ext>
            </a:extLst>
          </p:cNvPr>
          <p:cNvSpPr>
            <a:spLocks xmlns:a="http://schemas.openxmlformats.org/drawingml/2006/main" noGrp="1"/>
          </p:cNvSpPr>
          <p:nvPr/>
        </p:nvSpPr>
        <p:spPr>
          <a:xfrm xmlns:a="http://schemas.openxmlformats.org/drawingml/2006/main">
            <a:off x="6286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run.csh --workflow create-lund</a:t>
            </a:r>
          </a:p>
        </p:txBody>
      </p:sp>
      <p:sp>
        <p:nvSpPr>
          <p:cNvPr id="12" name="">
            <a:extLst xmlns:a="http://schemas.openxmlformats.org/drawingml/2006/main">
              <a:ext uri="{FF2B5EF4-FFF2-40B4-BE49-F238E27FC236}">
                <a16:creationId xmlns:a16="http://schemas.microsoft.com/office/drawing/2014/main" id="{7C4067A7-892A-4B70-9950-A255374FF916}"/>
              </a:ext>
            </a:extLst>
          </p:cNvPr>
          <p:cNvSpPr>
            <a:spLocks xmlns:a="http://schemas.openxmlformats.org/drawingml/2006/main" noGrp="1"/>
          </p:cNvSpPr>
          <p:nvPr/>
        </p:nvSpPr>
        <p:spPr>
          <a:xfrm xmlns:a="http://schemas.openxmlformats.org/drawingml/2006/main">
            <a:off x="3333750" y="1876425"/>
            <a:ext cx="5524500" cy="781050"/>
          </a:xfrm>
          <a:prstGeom xmlns:a="http://schemas.openxmlformats.org/drawingml/2006/main" prst="roundRect">
            <a:avLst>
              <a:gd name="adj" fmla="val 10976"/>
            </a:avLst>
          </a:prstGeom>
          <a:solidFill xmlns:a="http://schemas.openxmlformats.org/drawingml/2006/main">
            <a:srgbClr val="182E40"/>
          </a:solidFill>
          <a:ln xmlns:a="http://schemas.openxmlformats.org/drawingml/2006/main" w="14288">
            <a:solidFill>
              <a:srgbClr val="182E40"/>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Python build driver + RunConfig</a:t>
            </a:r>
          </a:p>
          <a:p xmlns:a="http://schemas.openxmlformats.org/drawingml/2006/main">
            <a:pPr algn="ct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Build application and validate profile / CLI</a:t>
            </a:r>
          </a:p>
        </p:txBody>
      </p:sp>
      <p:sp>
        <p:nvSpPr>
          <p:cNvPr id="13" name="">
            <a:extLst xmlns:a="http://schemas.openxmlformats.org/drawingml/2006/main">
              <a:ext uri="{FF2B5EF4-FFF2-40B4-BE49-F238E27FC236}">
                <a16:creationId xmlns:a16="http://schemas.microsoft.com/office/drawing/2014/main" id="{664A201D-231D-4968-8C7B-7CA4222B563A}"/>
              </a:ext>
            </a:extLst>
          </p:cNvPr>
          <p:cNvSpPr>
            <a:spLocks xmlns:a="http://schemas.openxmlformats.org/drawingml/2006/main" noGrp="1"/>
          </p:cNvSpPr>
          <p:nvPr/>
        </p:nvSpPr>
        <p:spPr>
          <a:xfrm xmlns:a="http://schemas.openxmlformats.org/drawingml/2006/main">
            <a:off x="609600" y="3143250"/>
            <a:ext cx="4857750" cy="876300"/>
          </a:xfrm>
          <a:prstGeom xmlns:a="http://schemas.openxmlformats.org/drawingml/2006/main" prst="roundRect">
            <a:avLst>
              <a:gd name="adj" fmla="val 9783"/>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--source uniform</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Sample configured acceptance kinematics</a:t>
            </a:r>
          </a:p>
        </p:txBody>
      </p:sp>
      <p:sp>
        <p:nvSpPr>
          <p:cNvPr id="14" name="">
            <a:extLst xmlns:a="http://schemas.openxmlformats.org/drawingml/2006/main">
              <a:ext uri="{FF2B5EF4-FFF2-40B4-BE49-F238E27FC236}">
                <a16:creationId xmlns:a16="http://schemas.microsoft.com/office/drawing/2014/main" id="{FF9CD00E-4B29-44B2-B2ED-A7A663A9D8D5}"/>
              </a:ext>
            </a:extLst>
          </p:cNvPr>
          <p:cNvSpPr>
            <a:spLocks xmlns:a="http://schemas.openxmlformats.org/drawingml/2006/main" noGrp="1"/>
          </p:cNvSpPr>
          <p:nvPr/>
        </p:nvSpPr>
        <p:spPr>
          <a:xfrm xmlns:a="http://schemas.openxmlformats.org/drawingml/2006/main">
            <a:off x="6724650" y="3143250"/>
            <a:ext cx="4857750" cy="876300"/>
          </a:xfrm>
          <a:prstGeom xmlns:a="http://schemas.openxmlformats.org/drawingml/2006/main" prst="roundRect">
            <a:avLst>
              <a:gd name="adj" fmla="val 9783"/>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--source physical</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Read and select existing GENIE GST truth</a:t>
            </a:r>
          </a:p>
        </p:txBody>
      </p:sp>
      <p:sp>
        <p:nvSpPr>
          <p:cNvPr id="15" name="">
            <a:extLst xmlns:a="http://schemas.openxmlformats.org/drawingml/2006/main">
              <a:ext uri="{FF2B5EF4-FFF2-40B4-BE49-F238E27FC236}">
                <a16:creationId xmlns:a16="http://schemas.microsoft.com/office/drawing/2014/main" id="{F6CAB316-65AE-4326-8A6A-AD972734DAA9}"/>
              </a:ext>
            </a:extLst>
          </p:cNvPr>
          <p:cNvSpPr>
            <a:spLocks xmlns:a="http://schemas.openxmlformats.org/drawingml/2006/main" noGrp="1"/>
          </p:cNvSpPr>
          <p:nvPr/>
        </p:nvSpPr>
        <p:spPr>
          <a:xfrm xmlns:a="http://schemas.openxmlformats.org/drawingml/2006/main">
            <a:off x="3333750" y="4505325"/>
            <a:ext cx="5524500" cy="800100"/>
          </a:xfrm>
          <a:prstGeom xmlns:a="http://schemas.openxmlformats.org/drawingml/2006/main" prst="roundRect">
            <a:avLst>
              <a:gd name="adj" fmla="val 10714"/>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Shared target geometry + LundWriter</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Assign one vertex per event, serialize and split</a:t>
            </a:r>
          </a:p>
        </p:txBody>
      </p:sp>
      <p:sp>
        <p:nvSpPr>
          <p:cNvPr id="16" name="">
            <a:extLst xmlns:a="http://schemas.openxmlformats.org/drawingml/2006/main">
              <a:ext uri="{FF2B5EF4-FFF2-40B4-BE49-F238E27FC236}">
                <a16:creationId xmlns:a16="http://schemas.microsoft.com/office/drawing/2014/main" id="{FF048CC3-11CF-430A-97E5-076755CD5320}"/>
              </a:ext>
            </a:extLst>
          </p:cNvPr>
          <p:cNvSpPr>
            <a:spLocks xmlns:a="http://schemas.openxmlformats.org/drawingml/2006/main" noGrp="1"/>
          </p:cNvSpPr>
          <p:nvPr/>
        </p:nvSpPr>
        <p:spPr>
          <a:xfrm xmlns:a="http://schemas.openxmlformats.org/drawingml/2006/main">
            <a:off x="3333750" y="5715000"/>
            <a:ext cx="5524500" cy="533400"/>
          </a:xfrm>
          <a:prstGeom xmlns:a="http://schemas.openxmlformats.org/drawingml/2006/main" prst="roundRect">
            <a:avLst>
              <a:gd name="adj" fmla="val 16071"/>
            </a:avLst>
          </a:prstGeom>
          <a:solidFill xmlns:a="http://schemas.openxmlformats.org/drawingml/2006/main">
            <a:srgbClr val="182E40"/>
          </a:solidFill>
          <a:ln xmlns:a="http://schemas.openxmlformats.org/drawingml/2006/main" w="14288">
            <a:solidFill>
              <a:srgbClr val="182E40"/>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Completed LUND files + manifest</a:t>
            </a:r>
          </a:p>
        </p:txBody>
      </p:sp>
      <p:cxnSp>
        <p:nvCxnSpPr>
          <p:cNvPr id="39" name=""/>
          <p:cNvCxnSpPr>
            <a:stCxn xmlns:a="http://schemas.openxmlformats.org/drawingml/2006/main" id="12" idx="2"/>
            <a:endCxn xmlns:a="http://schemas.openxmlformats.org/drawingml/2006/main" id="13" idx="0"/>
          </p:cNvCxnSpPr>
          <p:nvPr/>
        </p:nvCxnSpPr>
        <p:spPr>
          <a:xfrm xmlns:a="http://schemas.openxmlformats.org/drawingml/2006/main" flipH="1">
            <a:off x="3038475" y="2657475"/>
            <a:ext cx="3057525" cy="485775"/>
          </a:xfrm>
          <a:prstGeom xmlns:a="http://schemas.openxmlformats.org/drawingml/2006/main" prst="bentConnector4">
            <a:avLst>
              <a:gd name="adj1" fmla="val 0"/>
              <a:gd name="adj2" fmla="val 50000"/>
            </a:avLst>
          </a:prstGeom>
          <a:ln xmlns:a="http://schemas.openxmlformats.org/drawingml/2006/main" w="23813">
            <a:solidFill>
              <a:srgbClr val="137C87"/>
            </a:solidFill>
            <a:tailEnd type="triangle" w="med" len="med"/>
          </a:ln>
        </p:spPr>
      </p:cxnSp>
      <p:cxnSp>
        <p:nvCxnSpPr>
          <p:cNvPr id="40" name=""/>
          <p:cNvCxnSpPr>
            <a:stCxn xmlns:a="http://schemas.openxmlformats.org/drawingml/2006/main" id="12" idx="2"/>
            <a:endCxn xmlns:a="http://schemas.openxmlformats.org/drawingml/2006/main" id="14" idx="0"/>
          </p:cNvCxnSpPr>
          <p:nvPr/>
        </p:nvCxnSpPr>
        <p:spPr>
          <a:xfrm xmlns:a="http://schemas.openxmlformats.org/drawingml/2006/main">
            <a:off x="6096000" y="2657475"/>
            <a:ext cx="3057525" cy="485775"/>
          </a:xfrm>
          <a:prstGeom xmlns:a="http://schemas.openxmlformats.org/drawingml/2006/main" prst="bentConnector4">
            <a:avLst>
              <a:gd name="adj1" fmla="val 0"/>
              <a:gd name="adj2" fmla="val 50000"/>
            </a:avLst>
          </a:prstGeom>
          <a:ln xmlns:a="http://schemas.openxmlformats.org/drawingml/2006/main" w="23813">
            <a:solidFill>
              <a:srgbClr val="137C87"/>
            </a:solidFill>
            <a:tailEnd type="triangle" w="med" len="med"/>
          </a:ln>
        </p:spPr>
      </p:cxnSp>
      <p:cxnSp>
        <p:nvCxnSpPr>
          <p:cNvPr id="41" name=""/>
          <p:cNvCxnSpPr>
            <a:stCxn xmlns:a="http://schemas.openxmlformats.org/drawingml/2006/main" id="13" idx="2"/>
            <a:endCxn xmlns:a="http://schemas.openxmlformats.org/drawingml/2006/main" id="15" idx="0"/>
          </p:cNvCxnSpPr>
          <p:nvPr/>
        </p:nvCxnSpPr>
        <p:spPr>
          <a:xfrm xmlns:a="http://schemas.openxmlformats.org/drawingml/2006/main">
            <a:off x="3038475" y="4019550"/>
            <a:ext cx="3057525" cy="485775"/>
          </a:xfrm>
          <a:prstGeom xmlns:a="http://schemas.openxmlformats.org/drawingml/2006/main" prst="bentConnector4">
            <a:avLst>
              <a:gd name="adj1" fmla="val 0"/>
              <a:gd name="adj2" fmla="val 50000"/>
            </a:avLst>
          </a:prstGeom>
          <a:ln xmlns:a="http://schemas.openxmlformats.org/drawingml/2006/main" w="23813">
            <a:solidFill>
              <a:srgbClr val="137C87"/>
            </a:solidFill>
            <a:tailEnd type="triangle" w="med" len="med"/>
          </a:ln>
        </p:spPr>
      </p:cxnSp>
      <p:cxnSp>
        <p:nvCxnSpPr>
          <p:cNvPr id="42" name=""/>
          <p:cNvCxnSpPr>
            <a:stCxn xmlns:a="http://schemas.openxmlformats.org/drawingml/2006/main" id="14" idx="2"/>
            <a:endCxn xmlns:a="http://schemas.openxmlformats.org/drawingml/2006/main" id="15" idx="0"/>
          </p:cNvCxnSpPr>
          <p:nvPr/>
        </p:nvCxnSpPr>
        <p:spPr>
          <a:xfrm xmlns:a="http://schemas.openxmlformats.org/drawingml/2006/main" flipH="1">
            <a:off x="6096000" y="4019550"/>
            <a:ext cx="3057525" cy="485775"/>
          </a:xfrm>
          <a:prstGeom xmlns:a="http://schemas.openxmlformats.org/drawingml/2006/main" prst="bentConnector4">
            <a:avLst>
              <a:gd name="adj1" fmla="val 0"/>
              <a:gd name="adj2" fmla="val 50000"/>
            </a:avLst>
          </a:prstGeom>
          <a:ln xmlns:a="http://schemas.openxmlformats.org/drawingml/2006/main" w="23813">
            <a:solidFill>
              <a:srgbClr val="137C87"/>
            </a:solidFill>
            <a:tailEnd type="triangle" w="med" len="med"/>
          </a:ln>
        </p:spPr>
      </p:cxnSp>
      <p:cxnSp>
        <p:nvCxnSpPr>
          <p:cNvPr id="43" name=""/>
          <p:cNvCxnSpPr>
            <a:stCxn xmlns:a="http://schemas.openxmlformats.org/drawingml/2006/main" id="15" idx="2"/>
            <a:endCxn xmlns:a="http://schemas.openxmlformats.org/drawingml/2006/main" id="16" idx="0"/>
          </p:cNvCxnSpPr>
          <p:nvPr/>
        </p:nvCxnSpPr>
        <p:spPr>
          <a:xfrm xmlns:a="http://schemas.openxmlformats.org/drawingml/2006/main">
            <a:off x="6096000" y="5305425"/>
            <a:ext cx="0" cy="409575"/>
          </a:xfrm>
          <a:prstGeom xmlns:a="http://schemas.openxmlformats.org/drawingml/2006/main" prst="straightConnector1">
            <a:avLst/>
          </a:prstGeom>
          <a:ln xmlns:a="http://schemas.openxmlformats.org/drawingml/2006/main" w="23813">
            <a:solidFill>
              <a:srgbClr val="137C87"/>
            </a:solidFill>
            <a:tailEnd type="triangle" w="med" len="med"/>
          </a:ln>
        </p:spPr>
      </p:cxnSp>
      <p:sp>
        <p:nvSpPr>
          <p:cNvPr id="22" name="">
            <a:extLst xmlns:a="http://schemas.openxmlformats.org/drawingml/2006/main">
              <a:ext uri="{FF2B5EF4-FFF2-40B4-BE49-F238E27FC236}">
                <a16:creationId xmlns:a16="http://schemas.microsoft.com/office/drawing/2014/main" id="{0AFDF217-87CB-48CA-A81E-90D03D884AE9}"/>
              </a:ext>
            </a:extLst>
          </p:cNvPr>
          <p:cNvSpPr>
            <a:spLocks xmlns:a="http://schemas.openxmlformats.org/drawingml/2006/main" noGrp="1"/>
          </p:cNvSpPr>
          <p:nvPr/>
        </p:nvSpPr>
        <p:spPr>
          <a:xfrm xmlns:a="http://schemas.openxmlformats.org/drawingml/2006/main">
            <a:off x="628650" y="4676775"/>
            <a:ext cx="2438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4"/>
                </a:solidFill>
                <a:latin typeface="Helvetica Neue"/>
                <a:ea typeface="Helvetica Neue"/>
                <a:cs typeface="Helvetica Neue"/>
              </a:defRPr>
            </a:pPr>
            <a:r>
              <a:rPr sz="1725" b="0">
                <a:solidFill>
                  <a:srgbClr val="526574"/>
                </a:solidFill>
                <a:latin typeface="Helvetica Neue"/>
                <a:ea typeface="Helvetica Neue"/>
                <a:cs typeface="Helvetica Neue"/>
              </a:rPr>
              <a:t>Uniform only:</a:t>
            </a:r>
          </a:p>
          <a:p xmlns:a="http://schemas.openxmlformats.org/drawingml/2006/main">
            <a:pPr>
              <a:defRPr sz="1725" b="0">
                <a:solidFill>
                  <a:srgbClr val="526574"/>
                </a:solidFill>
                <a:latin typeface="Helvetica Neue"/>
                <a:ea typeface="Helvetica Neue"/>
                <a:cs typeface="Helvetica Neue"/>
              </a:defRPr>
            </a:pPr>
            <a:r>
              <a:rPr sz="1725" b="0">
                <a:solidFill>
                  <a:srgbClr val="526574"/>
                </a:solidFill>
                <a:latin typeface="Helvetica Neue"/>
                <a:ea typeface="Helvetica Neue"/>
                <a:cs typeface="Helvetica Neue"/>
              </a:rPr>
              <a:t>ROOT / PDF / PNG</a:t>
            </a:r>
          </a:p>
          <a:p xmlns:a="http://schemas.openxmlformats.org/drawingml/2006/main">
            <a:pPr>
              <a:defRPr sz="1725" b="0">
                <a:solidFill>
                  <a:srgbClr val="526574"/>
                </a:solidFill>
                <a:latin typeface="Helvetica Neue"/>
                <a:ea typeface="Helvetica Neue"/>
                <a:cs typeface="Helvetica Neue"/>
              </a:defRPr>
            </a:pPr>
            <a:r>
              <a:rPr sz="1725" b="0">
                <a:solidFill>
                  <a:srgbClr val="526574"/>
                </a:solidFill>
                <a:latin typeface="Helvetica Neue"/>
                <a:ea typeface="Helvetica Neue"/>
                <a:cs typeface="Helvetica Neue"/>
              </a:rPr>
              <a:t>monitoring plots</a:t>
            </a:r>
          </a:p>
        </p:txBody>
      </p:sp>
      <p:sp>
        <p:nvSpPr>
          <p:cNvPr id="23" name="">
            <a:extLst xmlns:a="http://schemas.openxmlformats.org/drawingml/2006/main">
              <a:ext uri="{FF2B5EF4-FFF2-40B4-BE49-F238E27FC236}">
                <a16:creationId xmlns:a16="http://schemas.microsoft.com/office/drawing/2014/main" id="{0B8C2AE0-2912-4D00-9F8A-338518386DA0}"/>
              </a:ext>
            </a:extLst>
          </p:cNvPr>
          <p:cNvSpPr>
            <a:spLocks xmlns:a="http://schemas.openxmlformats.org/drawingml/2006/main" noGrp="1"/>
          </p:cNvSpPr>
          <p:nvPr/>
        </p:nvSpPr>
        <p:spPr>
          <a:xfrm xmlns:a="http://schemas.openxmlformats.org/drawingml/2006/main">
            <a:off x="9163050" y="4676775"/>
            <a:ext cx="24003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4"/>
                </a:solidFill>
                <a:latin typeface="Helvetica Neue"/>
                <a:ea typeface="Helvetica Neue"/>
                <a:cs typeface="Helvetica Neue"/>
              </a:defRPr>
            </a:pPr>
            <a:r>
              <a:rPr sz="1725" b="0">
                <a:solidFill>
                  <a:srgbClr val="526574"/>
                </a:solidFill>
                <a:latin typeface="Helvetica Neue"/>
                <a:ea typeface="Helvetica Neue"/>
                <a:cs typeface="Helvetica Neue"/>
              </a:rPr>
              <a:t>Creation can run locally.</a:t>
            </a:r>
          </a:p>
          <a:p xmlns:a="http://schemas.openxmlformats.org/drawingml/2006/main">
            <a:pPr>
              <a:defRPr sz="1725" b="0">
                <a:solidFill>
                  <a:srgbClr val="526574"/>
                </a:solidFill>
                <a:latin typeface="Helvetica Neue"/>
                <a:ea typeface="Helvetica Neue"/>
                <a:cs typeface="Helvetica Neue"/>
              </a:defRPr>
            </a:pPr>
            <a:r>
              <a:rPr sz="1725" b="0">
                <a:solidFill>
                  <a:srgbClr val="526574"/>
                </a:solidFill>
                <a:latin typeface="Helvetica Neue"/>
                <a:ea typeface="Helvetica Neue"/>
                <a:cs typeface="Helvetica Neue"/>
              </a:rPr>
              <a:t>It does not submit</a:t>
            </a:r>
          </a:p>
          <a:p xmlns:a="http://schemas.openxmlformats.org/drawingml/2006/main">
            <a:pPr>
              <a:defRPr sz="1725" b="0">
                <a:solidFill>
                  <a:srgbClr val="526574"/>
                </a:solidFill>
                <a:latin typeface="Helvetica Neue"/>
                <a:ea typeface="Helvetica Neue"/>
                <a:cs typeface="Helvetica Neue"/>
              </a:defRPr>
            </a:pPr>
            <a:r>
              <a:rPr sz="1725" b="0">
                <a:solidFill>
                  <a:srgbClr val="526574"/>
                </a:solidFill>
                <a:latin typeface="Helvetica Neue"/>
                <a:ea typeface="Helvetica Neue"/>
                <a:cs typeface="Helvetica Neue"/>
              </a:rPr>
              <a:t>simulation jobs.</a:t>
            </a:r>
          </a:p>
        </p:txBody>
      </p:sp>
    </p:spTree>
    <p:extLst>
      <p:ext uri="{BB962C8B-B14F-4D97-AF65-F5344CB8AC3E}">
        <p14:creationId xmlns:p14="http://schemas.microsoft.com/office/powerpoint/2010/main" val="937059427"/>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F546B23-2A40-422A-90C5-E6BE4E721967}"/>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Submit simulation: validation to reconstruction</a:t>
            </a:r>
          </a:p>
        </p:txBody>
      </p:sp>
      <p:sp>
        <p:nvSpPr>
          <p:cNvPr id="2" name="">
            <a:extLst xmlns:a="http://schemas.openxmlformats.org/drawingml/2006/main">
              <a:ext uri="{FF2B5EF4-FFF2-40B4-BE49-F238E27FC236}">
                <a16:creationId xmlns:a16="http://schemas.microsoft.com/office/drawing/2014/main" id="{DFF7B8F2-C23B-42CC-B3B9-3FCDA49294BC}"/>
              </a:ext>
            </a:extLst>
          </p:cNvPr>
          <p:cNvSpPr>
            <a:spLocks xmlns:a="http://schemas.openxmlformats.org/drawingml/2006/main" noGrp="1"/>
          </p:cNvSpPr>
          <p:nvPr/>
        </p:nvSpPr>
        <p:spPr>
          <a:xfrm xmlns:a="http://schemas.openxmlformats.org/drawingml/2006/main">
            <a:off x="6286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run.csh --workflow submit</a:t>
            </a:r>
          </a:p>
        </p:txBody>
      </p:sp>
      <p:sp>
        <p:nvSpPr>
          <p:cNvPr id="3" name="">
            <a:extLst xmlns:a="http://schemas.openxmlformats.org/drawingml/2006/main">
              <a:ext uri="{FF2B5EF4-FFF2-40B4-BE49-F238E27FC236}">
                <a16:creationId xmlns:a16="http://schemas.microsoft.com/office/drawing/2014/main" id="{4B87C396-65B4-4ED6-B785-B96324CABA88}"/>
              </a:ext>
            </a:extLst>
          </p:cNvPr>
          <p:cNvSpPr>
            <a:spLocks xmlns:a="http://schemas.openxmlformats.org/drawingml/2006/main" noGrp="1"/>
          </p:cNvSpPr>
          <p:nvPr/>
        </p:nvSpPr>
        <p:spPr>
          <a:xfrm xmlns:a="http://schemas.openxmlformats.org/drawingml/2006/main">
            <a:off x="609600" y="2085975"/>
            <a:ext cx="2762250" cy="857250"/>
          </a:xfrm>
          <a:prstGeom xmlns:a="http://schemas.openxmlformats.org/drawingml/2006/main" prst="roundRect">
            <a:avLst>
              <a:gd name="adj" fmla="val 10000"/>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Completed LUND</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 GCARD + YAML</a:t>
            </a:r>
          </a:p>
        </p:txBody>
      </p:sp>
      <p:sp>
        <p:nvSpPr>
          <p:cNvPr id="4" name="">
            <a:extLst xmlns:a="http://schemas.openxmlformats.org/drawingml/2006/main">
              <a:ext uri="{FF2B5EF4-FFF2-40B4-BE49-F238E27FC236}">
                <a16:creationId xmlns:a16="http://schemas.microsoft.com/office/drawing/2014/main" id="{11F9A678-36CD-4A97-874E-9EECE792E1B5}"/>
              </a:ext>
            </a:extLst>
          </p:cNvPr>
          <p:cNvSpPr>
            <a:spLocks xmlns:a="http://schemas.openxmlformats.org/drawingml/2006/main" noGrp="1"/>
          </p:cNvSpPr>
          <p:nvPr/>
        </p:nvSpPr>
        <p:spPr>
          <a:xfrm xmlns:a="http://schemas.openxmlformats.org/drawingml/2006/main">
            <a:off x="4429125" y="2085975"/>
            <a:ext cx="3143250" cy="857250"/>
          </a:xfrm>
          <a:prstGeom xmlns:a="http://schemas.openxmlformats.org/drawingml/2006/main" prst="roundRect">
            <a:avLst>
              <a:gd name="adj" fmla="val 10000"/>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setup_and_submit.csh</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submit.py</a:t>
            </a:r>
          </a:p>
        </p:txBody>
      </p:sp>
      <p:sp>
        <p:nvSpPr>
          <p:cNvPr id="5" name="">
            <a:extLst xmlns:a="http://schemas.openxmlformats.org/drawingml/2006/main">
              <a:ext uri="{FF2B5EF4-FFF2-40B4-BE49-F238E27FC236}">
                <a16:creationId xmlns:a16="http://schemas.microsoft.com/office/drawing/2014/main" id="{E40A6F3A-5EC3-4A79-B0D5-29B6C91AF4BF}"/>
              </a:ext>
            </a:extLst>
          </p:cNvPr>
          <p:cNvSpPr>
            <a:spLocks xmlns:a="http://schemas.openxmlformats.org/drawingml/2006/main" noGrp="1"/>
          </p:cNvSpPr>
          <p:nvPr/>
        </p:nvSpPr>
        <p:spPr>
          <a:xfrm xmlns:a="http://schemas.openxmlformats.org/drawingml/2006/main">
            <a:off x="8629650" y="2085975"/>
            <a:ext cx="2952750" cy="857250"/>
          </a:xfrm>
          <a:prstGeom xmlns:a="http://schemas.openxmlformats.org/drawingml/2006/main" prst="roundRect">
            <a:avLst>
              <a:gd name="adj" fmla="val 10000"/>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Validate inputs</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and environment</a:t>
            </a:r>
          </a:p>
        </p:txBody>
      </p:sp>
      <p:cxnSp>
        <p:nvCxnSpPr>
          <p:cNvPr id="27" name=""/>
          <p:cNvCxnSpPr>
            <a:stCxn xmlns:a="http://schemas.openxmlformats.org/drawingml/2006/main" id="3" idx="3"/>
            <a:endCxn xmlns:a="http://schemas.openxmlformats.org/drawingml/2006/main" id="4" idx="1"/>
          </p:cNvCxnSpPr>
          <p:nvPr/>
        </p:nvCxnSpPr>
        <p:spPr>
          <a:xfrm xmlns:a="http://schemas.openxmlformats.org/drawingml/2006/main">
            <a:off x="3371850" y="2514600"/>
            <a:ext cx="1057275" cy="0"/>
          </a:xfrm>
          <a:prstGeom xmlns:a="http://schemas.openxmlformats.org/drawingml/2006/main" prst="straightConnector1">
            <a:avLst/>
          </a:prstGeom>
          <a:ln xmlns:a="http://schemas.openxmlformats.org/drawingml/2006/main" w="23813">
            <a:solidFill>
              <a:srgbClr val="137C87"/>
            </a:solidFill>
            <a:tailEnd type="triangle"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7572375" y="2514600"/>
            <a:ext cx="1057275" cy="0"/>
          </a:xfrm>
          <a:prstGeom xmlns:a="http://schemas.openxmlformats.org/drawingml/2006/main" prst="straightConnector1">
            <a:avLst/>
          </a:prstGeom>
          <a:ln xmlns:a="http://schemas.openxmlformats.org/drawingml/2006/main" w="23813">
            <a:solidFill>
              <a:srgbClr val="137C87"/>
            </a:solidFill>
            <a:tailEnd type="triangle" w="med" len="med"/>
          </a:ln>
        </p:spPr>
      </p:cxnSp>
      <p:sp>
        <p:nvSpPr>
          <p:cNvPr id="8" name="">
            <a:extLst xmlns:a="http://schemas.openxmlformats.org/drawingml/2006/main">
              <a:ext uri="{FF2B5EF4-FFF2-40B4-BE49-F238E27FC236}">
                <a16:creationId xmlns:a16="http://schemas.microsoft.com/office/drawing/2014/main" id="{059B69A8-2102-496A-948D-68CAA14D5886}"/>
              </a:ext>
            </a:extLst>
          </p:cNvPr>
          <p:cNvSpPr>
            <a:spLocks xmlns:a="http://schemas.openxmlformats.org/drawingml/2006/main" noGrp="1"/>
          </p:cNvSpPr>
          <p:nvPr/>
        </p:nvSpPr>
        <p:spPr>
          <a:xfrm xmlns:a="http://schemas.openxmlformats.org/drawingml/2006/main">
            <a:off x="609600" y="3562350"/>
            <a:ext cx="3333750" cy="781050"/>
          </a:xfrm>
          <a:prstGeom xmlns:a="http://schemas.openxmlformats.org/drawingml/2006/main" prst="roundRect">
            <a:avLst>
              <a:gd name="adj" fmla="val 10976"/>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Preview (default)</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Report plan and stop</a:t>
            </a:r>
          </a:p>
        </p:txBody>
      </p:sp>
      <p:sp>
        <p:nvSpPr>
          <p:cNvPr id="9" name="">
            <a:extLst xmlns:a="http://schemas.openxmlformats.org/drawingml/2006/main">
              <a:ext uri="{FF2B5EF4-FFF2-40B4-BE49-F238E27FC236}">
                <a16:creationId xmlns:a16="http://schemas.microsoft.com/office/drawing/2014/main" id="{097D17D8-FF60-4A12-83EF-7A1F67449A71}"/>
              </a:ext>
            </a:extLst>
          </p:cNvPr>
          <p:cNvSpPr>
            <a:spLocks xmlns:a="http://schemas.openxmlformats.org/drawingml/2006/main" noGrp="1"/>
          </p:cNvSpPr>
          <p:nvPr/>
        </p:nvSpPr>
        <p:spPr>
          <a:xfrm xmlns:a="http://schemas.openxmlformats.org/drawingml/2006/main">
            <a:off x="8629650" y="3562350"/>
            <a:ext cx="2952750" cy="781050"/>
          </a:xfrm>
          <a:prstGeom xmlns:a="http://schemas.openxmlformats.org/drawingml/2006/main" prst="roundRect">
            <a:avLst>
              <a:gd name="adj" fmla="val 10976"/>
            </a:avLst>
          </a:prstGeom>
          <a:solidFill xmlns:a="http://schemas.openxmlformats.org/drawingml/2006/main">
            <a:srgbClr val="182E40"/>
          </a:solidFill>
          <a:ln xmlns:a="http://schemas.openxmlformats.org/drawingml/2006/main" w="14288">
            <a:solidFill>
              <a:srgbClr val="182E40"/>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--execute?</a:t>
            </a:r>
          </a:p>
        </p:txBody>
      </p:sp>
      <p:cxnSp>
        <p:nvCxnSpPr>
          <p:cNvPr id="31" name=""/>
          <p:cNvCxnSpPr>
            <a:stCxn xmlns:a="http://schemas.openxmlformats.org/drawingml/2006/main" id="5" idx="2"/>
            <a:endCxn xmlns:a="http://schemas.openxmlformats.org/drawingml/2006/main" id="9" idx="0"/>
          </p:cNvCxnSpPr>
          <p:nvPr/>
        </p:nvCxnSpPr>
        <p:spPr>
          <a:xfrm xmlns:a="http://schemas.openxmlformats.org/drawingml/2006/main">
            <a:off x="10106025" y="2943225"/>
            <a:ext cx="0" cy="619125"/>
          </a:xfrm>
          <a:prstGeom xmlns:a="http://schemas.openxmlformats.org/drawingml/2006/main" prst="straightConnector1">
            <a:avLst/>
          </a:prstGeom>
          <a:ln xmlns:a="http://schemas.openxmlformats.org/drawingml/2006/main" w="23813">
            <a:solidFill>
              <a:srgbClr val="137C87"/>
            </a:solidFill>
            <a:tailEnd type="triangle" w="med" len="med"/>
          </a:ln>
        </p:spPr>
      </p:cxnSp>
      <p:cxnSp>
        <p:nvCxnSpPr>
          <p:cNvPr id="32" name=""/>
          <p:cNvCxnSpPr>
            <a:stCxn xmlns:a="http://schemas.openxmlformats.org/drawingml/2006/main" id="9" idx="1"/>
            <a:endCxn xmlns:a="http://schemas.openxmlformats.org/drawingml/2006/main" id="8" idx="3"/>
          </p:cNvCxnSpPr>
          <p:nvPr/>
        </p:nvCxnSpPr>
        <p:spPr>
          <a:xfrm xmlns:a="http://schemas.openxmlformats.org/drawingml/2006/main" flipH="1">
            <a:off x="3943350" y="3952875"/>
            <a:ext cx="4686300" cy="0"/>
          </a:xfrm>
          <a:prstGeom xmlns:a="http://schemas.openxmlformats.org/drawingml/2006/main" prst="straightConnector1">
            <a:avLst/>
          </a:prstGeom>
          <a:ln xmlns:a="http://schemas.openxmlformats.org/drawingml/2006/main" w="23813">
            <a:solidFill>
              <a:srgbClr val="137C87"/>
            </a:solidFill>
            <a:tailEnd type="triangle" w="med" len="med"/>
          </a:ln>
        </p:spPr>
      </p:cxnSp>
      <p:sp>
        <p:nvSpPr>
          <p:cNvPr id="12" name="">
            <a:extLst xmlns:a="http://schemas.openxmlformats.org/drawingml/2006/main">
              <a:ext uri="{FF2B5EF4-FFF2-40B4-BE49-F238E27FC236}">
                <a16:creationId xmlns:a16="http://schemas.microsoft.com/office/drawing/2014/main" id="{594872B0-02EC-4397-B6DD-1DB308842A13}"/>
              </a:ext>
            </a:extLst>
          </p:cNvPr>
          <p:cNvSpPr>
            <a:spLocks xmlns:a="http://schemas.openxmlformats.org/drawingml/2006/main" noGrp="1"/>
          </p:cNvSpPr>
          <p:nvPr/>
        </p:nvSpPr>
        <p:spPr>
          <a:xfrm xmlns:a="http://schemas.openxmlformats.org/drawingml/2006/main">
            <a:off x="6067425" y="3581400"/>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C87"/>
                </a:solidFill>
                <a:latin typeface="Helvetica Neue"/>
                <a:ea typeface="Helvetica Neue"/>
                <a:cs typeface="Helvetica Neue"/>
              </a:defRPr>
            </a:pPr>
            <a:r>
              <a:rPr sz="1725" b="1">
                <a:solidFill>
                  <a:srgbClr val="137C87"/>
                </a:solidFill>
                <a:latin typeface="Helvetica Neue"/>
                <a:ea typeface="Helvetica Neue"/>
                <a:cs typeface="Helvetica Neue"/>
              </a:rPr>
              <a:t>No</a:t>
            </a:r>
          </a:p>
        </p:txBody>
      </p:sp>
      <p:sp>
        <p:nvSpPr>
          <p:cNvPr id="13" name="">
            <a:extLst xmlns:a="http://schemas.openxmlformats.org/drawingml/2006/main">
              <a:ext uri="{FF2B5EF4-FFF2-40B4-BE49-F238E27FC236}">
                <a16:creationId xmlns:a16="http://schemas.microsoft.com/office/drawing/2014/main" id="{BE2AE29B-3075-4C0D-8F40-9706159B6F75}"/>
              </a:ext>
            </a:extLst>
          </p:cNvPr>
          <p:cNvSpPr>
            <a:spLocks xmlns:a="http://schemas.openxmlformats.org/drawingml/2006/main" noGrp="1"/>
          </p:cNvSpPr>
          <p:nvPr/>
        </p:nvSpPr>
        <p:spPr>
          <a:xfrm xmlns:a="http://schemas.openxmlformats.org/drawingml/2006/main">
            <a:off x="8629650" y="5114925"/>
            <a:ext cx="2952750" cy="876300"/>
          </a:xfrm>
          <a:prstGeom xmlns:a="http://schemas.openxmlformats.org/drawingml/2006/main" prst="roundRect">
            <a:avLst>
              <a:gd name="adj" fmla="val 9783"/>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Replace outputs</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Submit sbatch array</a:t>
            </a:r>
          </a:p>
        </p:txBody>
      </p:sp>
      <p:sp>
        <p:nvSpPr>
          <p:cNvPr id="14" name="">
            <a:extLst xmlns:a="http://schemas.openxmlformats.org/drawingml/2006/main">
              <a:ext uri="{FF2B5EF4-FFF2-40B4-BE49-F238E27FC236}">
                <a16:creationId xmlns:a16="http://schemas.microsoft.com/office/drawing/2014/main" id="{185AB3CD-7620-48B7-B566-2CF0FC803755}"/>
              </a:ext>
            </a:extLst>
          </p:cNvPr>
          <p:cNvSpPr>
            <a:spLocks xmlns:a="http://schemas.openxmlformats.org/drawingml/2006/main" noGrp="1"/>
          </p:cNvSpPr>
          <p:nvPr/>
        </p:nvSpPr>
        <p:spPr>
          <a:xfrm xmlns:a="http://schemas.openxmlformats.org/drawingml/2006/main">
            <a:off x="4457700" y="5114925"/>
            <a:ext cx="2905125" cy="876300"/>
          </a:xfrm>
          <a:prstGeom xmlns:a="http://schemas.openxmlformats.org/drawingml/2006/main" prst="roundRect">
            <a:avLst>
              <a:gd name="adj" fmla="val 9783"/>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GEMC</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Detector simulation</a:t>
            </a:r>
          </a:p>
        </p:txBody>
      </p:sp>
      <p:sp>
        <p:nvSpPr>
          <p:cNvPr id="15" name="">
            <a:extLst xmlns:a="http://schemas.openxmlformats.org/drawingml/2006/main">
              <a:ext uri="{FF2B5EF4-FFF2-40B4-BE49-F238E27FC236}">
                <a16:creationId xmlns:a16="http://schemas.microsoft.com/office/drawing/2014/main" id="{DCA1D930-4F31-4EA5-85E4-4B43D43A9E0F}"/>
              </a:ext>
            </a:extLst>
          </p:cNvPr>
          <p:cNvSpPr>
            <a:spLocks xmlns:a="http://schemas.openxmlformats.org/drawingml/2006/main" noGrp="1"/>
          </p:cNvSpPr>
          <p:nvPr/>
        </p:nvSpPr>
        <p:spPr>
          <a:xfrm xmlns:a="http://schemas.openxmlformats.org/drawingml/2006/main">
            <a:off x="609600" y="5114925"/>
            <a:ext cx="2905125" cy="876300"/>
          </a:xfrm>
          <a:prstGeom xmlns:a="http://schemas.openxmlformats.org/drawingml/2006/main" prst="roundRect">
            <a:avLst>
              <a:gd name="adj" fmla="val 9783"/>
            </a:avLst>
          </a:prstGeom>
          <a:solidFill xmlns:a="http://schemas.openxmlformats.org/drawingml/2006/main">
            <a:srgbClr val="E4EEEB"/>
          </a:solidFill>
          <a:ln xmlns:a="http://schemas.openxmlformats.org/drawingml/2006/main" w="14288">
            <a:solidFill>
              <a:srgbClr val="137C87"/>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recon-util</a:t>
            </a:r>
          </a:p>
          <a:p xmlns:a="http://schemas.openxmlformats.org/drawingml/2006/main">
            <a:pPr algn="ctr">
              <a:defRPr sz="1875">
                <a:solidFill>
                  <a:srgbClr val="182E40"/>
                </a:solidFill>
                <a:latin typeface="Helvetica Neue"/>
                <a:ea typeface="Helvetica Neue"/>
                <a:cs typeface="Helvetica Neue"/>
              </a:defRPr>
            </a:pPr>
            <a:r>
              <a:rPr sz="1875">
                <a:solidFill>
                  <a:srgbClr val="182E40"/>
                </a:solidFill>
                <a:latin typeface="Helvetica Neue"/>
                <a:ea typeface="Helvetica Neue"/>
                <a:cs typeface="Helvetica Neue"/>
              </a:rPr>
              <a:t>Reconstructed HIPO</a:t>
            </a:r>
          </a:p>
        </p:txBody>
      </p:sp>
      <p:cxnSp>
        <p:nvCxnSpPr>
          <p:cNvPr id="37" name=""/>
          <p:cNvCxnSpPr>
            <a:stCxn xmlns:a="http://schemas.openxmlformats.org/drawingml/2006/main" id="9" idx="2"/>
            <a:endCxn xmlns:a="http://schemas.openxmlformats.org/drawingml/2006/main" id="13" idx="0"/>
          </p:cNvCxnSpPr>
          <p:nvPr/>
        </p:nvCxnSpPr>
        <p:spPr>
          <a:xfrm xmlns:a="http://schemas.openxmlformats.org/drawingml/2006/main">
            <a:off x="10106025" y="4343400"/>
            <a:ext cx="0" cy="771525"/>
          </a:xfrm>
          <a:prstGeom xmlns:a="http://schemas.openxmlformats.org/drawingml/2006/main" prst="straightConnector1">
            <a:avLst/>
          </a:prstGeom>
          <a:ln xmlns:a="http://schemas.openxmlformats.org/drawingml/2006/main" w="23813">
            <a:solidFill>
              <a:srgbClr val="137C87"/>
            </a:solidFill>
            <a:tailEnd type="triangle" w="med" len="med"/>
          </a:ln>
        </p:spPr>
      </p:cxnSp>
      <p:sp>
        <p:nvSpPr>
          <p:cNvPr id="17" name="">
            <a:extLst xmlns:a="http://schemas.openxmlformats.org/drawingml/2006/main">
              <a:ext uri="{FF2B5EF4-FFF2-40B4-BE49-F238E27FC236}">
                <a16:creationId xmlns:a16="http://schemas.microsoft.com/office/drawing/2014/main" id="{A7DD177F-F088-4EFF-87D8-D92C3BA9FE94}"/>
              </a:ext>
            </a:extLst>
          </p:cNvPr>
          <p:cNvSpPr>
            <a:spLocks xmlns:a="http://schemas.openxmlformats.org/drawingml/2006/main" noGrp="1"/>
          </p:cNvSpPr>
          <p:nvPr/>
        </p:nvSpPr>
        <p:spPr>
          <a:xfrm xmlns:a="http://schemas.openxmlformats.org/drawingml/2006/main">
            <a:off x="10134600" y="45529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C87"/>
                </a:solidFill>
                <a:latin typeface="Helvetica Neue"/>
                <a:ea typeface="Helvetica Neue"/>
                <a:cs typeface="Helvetica Neue"/>
              </a:defRPr>
            </a:pPr>
            <a:r>
              <a:rPr sz="1725" b="1">
                <a:solidFill>
                  <a:srgbClr val="137C87"/>
                </a:solidFill>
                <a:latin typeface="Helvetica Neue"/>
                <a:ea typeface="Helvetica Neue"/>
                <a:cs typeface="Helvetica Neue"/>
              </a:rPr>
              <a:t>Yes</a:t>
            </a:r>
          </a:p>
        </p:txBody>
      </p:sp>
      <p:cxnSp>
        <p:nvCxnSpPr>
          <p:cNvPr id="39" name=""/>
          <p:cNvCxnSpPr>
            <a:stCxn xmlns:a="http://schemas.openxmlformats.org/drawingml/2006/main" id="13" idx="1"/>
            <a:endCxn xmlns:a="http://schemas.openxmlformats.org/drawingml/2006/main" id="14" idx="3"/>
          </p:cNvCxnSpPr>
          <p:nvPr/>
        </p:nvCxnSpPr>
        <p:spPr>
          <a:xfrm xmlns:a="http://schemas.openxmlformats.org/drawingml/2006/main" flipH="1">
            <a:off x="7362825" y="5553075"/>
            <a:ext cx="1266825" cy="0"/>
          </a:xfrm>
          <a:prstGeom xmlns:a="http://schemas.openxmlformats.org/drawingml/2006/main" prst="straightConnector1">
            <a:avLst/>
          </a:prstGeom>
          <a:ln xmlns:a="http://schemas.openxmlformats.org/drawingml/2006/main" w="23813">
            <a:solidFill>
              <a:srgbClr val="137C87"/>
            </a:solidFill>
            <a:tailEnd type="triangle" w="med" len="med"/>
          </a:ln>
        </p:spPr>
      </p:cxnSp>
      <p:cxnSp>
        <p:nvCxnSpPr>
          <p:cNvPr id="40" name=""/>
          <p:cNvCxnSpPr>
            <a:stCxn xmlns:a="http://schemas.openxmlformats.org/drawingml/2006/main" id="14" idx="1"/>
            <a:endCxn xmlns:a="http://schemas.openxmlformats.org/drawingml/2006/main" id="15" idx="3"/>
          </p:cNvCxnSpPr>
          <p:nvPr/>
        </p:nvCxnSpPr>
        <p:spPr>
          <a:xfrm xmlns:a="http://schemas.openxmlformats.org/drawingml/2006/main" flipH="1">
            <a:off x="3514725" y="5553075"/>
            <a:ext cx="942975" cy="0"/>
          </a:xfrm>
          <a:prstGeom xmlns:a="http://schemas.openxmlformats.org/drawingml/2006/main" prst="straightConnector1">
            <a:avLst/>
          </a:prstGeom>
          <a:ln xmlns:a="http://schemas.openxmlformats.org/drawingml/2006/main" w="23813">
            <a:solidFill>
              <a:srgbClr val="137C87"/>
            </a:solidFill>
            <a:tailEnd type="triangle" w="med" len="med"/>
          </a:ln>
        </p:spPr>
      </p:cxnSp>
      <p:sp>
        <p:nvSpPr>
          <p:cNvPr id="20" name="">
            <a:extLst xmlns:a="http://schemas.openxmlformats.org/drawingml/2006/main">
              <a:ext uri="{FF2B5EF4-FFF2-40B4-BE49-F238E27FC236}">
                <a16:creationId xmlns:a16="http://schemas.microsoft.com/office/drawing/2014/main" id="{FC0B4225-AD45-4C91-99A0-94997294DC56}"/>
              </a:ext>
            </a:extLst>
          </p:cNvPr>
          <p:cNvSpPr>
            <a:spLocks xmlns:a="http://schemas.openxmlformats.org/drawingml/2006/main" noGrp="1"/>
          </p:cNvSpPr>
          <p:nvPr/>
        </p:nvSpPr>
        <p:spPr>
          <a:xfrm xmlns:a="http://schemas.openxmlformats.org/drawingml/2006/main">
            <a:off x="628650" y="6210300"/>
            <a:ext cx="1009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4"/>
                </a:solidFill>
                <a:latin typeface="Helvetica Neue"/>
                <a:ea typeface="Helvetica Neue"/>
                <a:cs typeface="Helvetica Neue"/>
              </a:defRPr>
            </a:pPr>
            <a:r>
              <a:rPr sz="1650" b="0">
                <a:solidFill>
                  <a:srgbClr val="526574"/>
                </a:solidFill>
                <a:latin typeface="Helvetica Neue"/>
                <a:ea typeface="Helvetica Neue"/>
                <a:cs typeface="Helvetica Neue"/>
              </a:rPr>
              <a:t>The protected array-job payload runs GEMC followed by reconstruction on ifarm.</a:t>
            </a:r>
          </a:p>
        </p:txBody>
      </p:sp>
      <p:sp>
        <p:nvSpPr>
          <p:cNvPr id="21" name="">
            <a:extLst xmlns:a="http://schemas.openxmlformats.org/drawingml/2006/main">
              <a:ext uri="{FF2B5EF4-FFF2-40B4-BE49-F238E27FC236}">
                <a16:creationId xmlns:a16="http://schemas.microsoft.com/office/drawing/2014/main" id="{1078FB12-8D86-4436-BAEE-6FDC18D386C2}"/>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03</a:t>
            </a:r>
          </a:p>
        </p:txBody>
      </p:sp>
    </p:spTree>
    <p:extLst>
      <p:ext uri="{BB962C8B-B14F-4D97-AF65-F5344CB8AC3E}">
        <p14:creationId xmlns:p14="http://schemas.microsoft.com/office/powerpoint/2010/main" val="1731134003"/>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ED10EB-8C22-43E2-92D7-273D6BAB4721}"/>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Shared LUND infrastructure</a:t>
            </a:r>
          </a:p>
        </p:txBody>
      </p:sp>
      <p:sp>
        <p:nvSpPr>
          <p:cNvPr id="2" name="">
            <a:extLst xmlns:a="http://schemas.openxmlformats.org/drawingml/2006/main">
              <a:ext uri="{FF2B5EF4-FFF2-40B4-BE49-F238E27FC236}">
                <a16:creationId xmlns:a16="http://schemas.microsoft.com/office/drawing/2014/main" id="{D82C50B0-83F4-41D2-A217-DF744769841D}"/>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DA796174-B91B-417B-A2FE-954B68996FC8}"/>
              </a:ext>
            </a:extLst>
          </p:cNvPr>
          <p:cNvSpPr>
            <a:spLocks xmlns:a="http://schemas.openxmlformats.org/drawingml/2006/main" noGrp="1"/>
          </p:cNvSpPr>
          <p:nvPr/>
        </p:nvSpPr>
        <p:spPr>
          <a:xfrm xmlns:a="http://schemas.openxmlformats.org/drawingml/2006/main">
            <a:off x="628650" y="15430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526574"/>
                </a:solidFill>
                <a:latin typeface="Helvetica Neue"/>
                <a:ea typeface="Helvetica Neue"/>
                <a:cs typeface="Helvetica Neue"/>
              </a:defRPr>
            </a:pPr>
            <a:r>
              <a:rPr sz="1725" b="1">
                <a:solidFill>
                  <a:srgbClr val="526574"/>
                </a:solidFill>
                <a:latin typeface="Helvetica Neue"/>
                <a:ea typeface="Helvetica Neue"/>
                <a:cs typeface="Helvetica Neue"/>
              </a:rPr>
              <a:t>LEGACY</a:t>
            </a:r>
          </a:p>
        </p:txBody>
      </p:sp>
      <p:sp>
        <p:nvSpPr>
          <p:cNvPr id="4" name="">
            <a:extLst xmlns:a="http://schemas.openxmlformats.org/drawingml/2006/main">
              <a:ext uri="{FF2B5EF4-FFF2-40B4-BE49-F238E27FC236}">
                <a16:creationId xmlns:a16="http://schemas.microsoft.com/office/drawing/2014/main" id="{0FD47AE4-6AC4-429F-88FD-C4B006E296B7}"/>
              </a:ext>
            </a:extLst>
          </p:cNvPr>
          <p:cNvSpPr>
            <a:spLocks xmlns:a="http://schemas.openxmlformats.org/drawingml/2006/main" noGrp="1"/>
          </p:cNvSpPr>
          <p:nvPr/>
        </p:nvSpPr>
        <p:spPr>
          <a:xfrm xmlns:a="http://schemas.openxmlformats.org/drawingml/2006/main">
            <a:off x="6286500" y="15430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37C87"/>
                </a:solidFill>
                <a:latin typeface="Helvetica Neue"/>
                <a:ea typeface="Helvetica Neue"/>
                <a:cs typeface="Helvetica Neue"/>
              </a:defRPr>
            </a:pPr>
            <a:r>
              <a:rPr sz="1725" b="1">
                <a:solidFill>
                  <a:srgbClr val="137C87"/>
                </a:solidFill>
                <a:latin typeface="Helvetica Neue"/>
                <a:ea typeface="Helvetica Neue"/>
                <a:cs typeface="Helvetica Neue"/>
              </a:rPr>
              <a:t>CURRENT IMPLEMENTATION</a:t>
            </a:r>
          </a:p>
        </p:txBody>
      </p:sp>
      <p:sp>
        <p:nvSpPr>
          <p:cNvPr id="5" name="">
            <a:extLst xmlns:a="http://schemas.openxmlformats.org/drawingml/2006/main">
              <a:ext uri="{FF2B5EF4-FFF2-40B4-BE49-F238E27FC236}">
                <a16:creationId xmlns:a16="http://schemas.microsoft.com/office/drawing/2014/main" id="{1F49DFBF-02C9-4779-B873-744285DABBF1}"/>
              </a:ext>
            </a:extLst>
          </p:cNvPr>
          <p:cNvSpPr>
            <a:spLocks xmlns:a="http://schemas.openxmlformats.org/drawingml/2006/main" noGrp="1"/>
          </p:cNvSpPr>
          <p:nvPr/>
        </p:nvSpPr>
        <p:spPr>
          <a:xfrm xmlns:a="http://schemas.openxmlformats.org/drawingml/2006/main">
            <a:off x="628650" y="21717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Manual channel selection in CodeRun.cpp and separate ROOT conversion macros</a:t>
            </a:r>
          </a:p>
        </p:txBody>
      </p:sp>
      <p:sp>
        <p:nvSpPr>
          <p:cNvPr id="6" name="">
            <a:extLst xmlns:a="http://schemas.openxmlformats.org/drawingml/2006/main">
              <a:ext uri="{FF2B5EF4-FFF2-40B4-BE49-F238E27FC236}">
                <a16:creationId xmlns:a16="http://schemas.microsoft.com/office/drawing/2014/main" id="{8FEAC46F-E4EF-445A-84B1-C3445A014004}"/>
              </a:ext>
            </a:extLst>
          </p:cNvPr>
          <p:cNvSpPr>
            <a:spLocks xmlns:a="http://schemas.openxmlformats.org/drawingml/2006/main" noGrp="1"/>
          </p:cNvSpPr>
          <p:nvPr/>
        </p:nvSpPr>
        <p:spPr>
          <a:xfrm xmlns:a="http://schemas.openxmlformats.org/drawingml/2006/main">
            <a:off x="628650" y="33909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Each source manages its own event formatting and output files</a:t>
            </a:r>
          </a:p>
        </p:txBody>
      </p:sp>
      <p:sp>
        <p:nvSpPr>
          <p:cNvPr id="7" name="">
            <a:extLst xmlns:a="http://schemas.openxmlformats.org/drawingml/2006/main">
              <a:ext uri="{FF2B5EF4-FFF2-40B4-BE49-F238E27FC236}">
                <a16:creationId xmlns:a16="http://schemas.microsoft.com/office/drawing/2014/main" id="{04A04170-7A27-4A24-83E2-E7D5E20AB24B}"/>
              </a:ext>
            </a:extLst>
          </p:cNvPr>
          <p:cNvSpPr>
            <a:spLocks xmlns:a="http://schemas.openxmlformats.org/drawingml/2006/main" noGrp="1"/>
          </p:cNvSpPr>
          <p:nvPr/>
        </p:nvSpPr>
        <p:spPr>
          <a:xfrm xmlns:a="http://schemas.openxmlformats.org/drawingml/2006/main">
            <a:off x="628650" y="46101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Paths and run choices embedded in scripts and source code</a:t>
            </a:r>
          </a:p>
        </p:txBody>
      </p:sp>
      <p:sp>
        <p:nvSpPr>
          <p:cNvPr id="8" name="">
            <a:extLst xmlns:a="http://schemas.openxmlformats.org/drawingml/2006/main">
              <a:ext uri="{FF2B5EF4-FFF2-40B4-BE49-F238E27FC236}">
                <a16:creationId xmlns:a16="http://schemas.microsoft.com/office/drawing/2014/main" id="{060DAB61-1D99-4F60-B018-84110C13F778}"/>
              </a:ext>
            </a:extLst>
          </p:cNvPr>
          <p:cNvSpPr>
            <a:spLocks xmlns:a="http://schemas.openxmlformats.org/drawingml/2006/main" noGrp="1"/>
          </p:cNvSpPr>
          <p:nvPr/>
        </p:nvSpPr>
        <p:spPr>
          <a:xfrm xmlns:a="http://schemas.openxmlformats.org/drawingml/2006/main">
            <a:off x="6286500" y="21717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One create-lund interface with uniform and physical source modes</a:t>
            </a:r>
          </a:p>
        </p:txBody>
      </p:sp>
      <p:sp>
        <p:nvSpPr>
          <p:cNvPr id="9" name="">
            <a:extLst xmlns:a="http://schemas.openxmlformats.org/drawingml/2006/main">
              <a:ext uri="{FF2B5EF4-FFF2-40B4-BE49-F238E27FC236}">
                <a16:creationId xmlns:a16="http://schemas.microsoft.com/office/drawing/2014/main" id="{49419432-270B-4B9D-BEF1-7D679665817E}"/>
              </a:ext>
            </a:extLst>
          </p:cNvPr>
          <p:cNvSpPr>
            <a:spLocks xmlns:a="http://schemas.openxmlformats.org/drawingml/2006/main" noGrp="1"/>
          </p:cNvSpPr>
          <p:nvPr/>
        </p:nvSpPr>
        <p:spPr>
          <a:xfrm xmlns:a="http://schemas.openxmlformats.org/drawingml/2006/main">
            <a:off x="6286500" y="33909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Shared configuration, target geometry, Event records and LundWriter</a:t>
            </a:r>
          </a:p>
        </p:txBody>
      </p:sp>
      <p:sp>
        <p:nvSpPr>
          <p:cNvPr id="10" name="">
            <a:extLst xmlns:a="http://schemas.openxmlformats.org/drawingml/2006/main">
              <a:ext uri="{FF2B5EF4-FFF2-40B4-BE49-F238E27FC236}">
                <a16:creationId xmlns:a16="http://schemas.microsoft.com/office/drawing/2014/main" id="{71673817-2F8B-441A-9C09-5251117AC512}"/>
              </a:ext>
            </a:extLst>
          </p:cNvPr>
          <p:cNvSpPr>
            <a:spLocks xmlns:a="http://schemas.openxmlformats.org/drawingml/2006/main" noGrp="1"/>
          </p:cNvSpPr>
          <p:nvPr/>
        </p:nvSpPr>
        <p:spPr>
          <a:xfrm xmlns:a="http://schemas.openxmlformats.org/drawingml/2006/main">
            <a:off x="6286500" y="46101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Validated profiles plus CLI overrides, explicit outputs and completion manifest</a:t>
            </a:r>
          </a:p>
        </p:txBody>
      </p:sp>
    </p:spTree>
    <p:extLst>
      <p:ext uri="{BB962C8B-B14F-4D97-AF65-F5344CB8AC3E}">
        <p14:creationId xmlns:p14="http://schemas.microsoft.com/office/powerpoint/2010/main" val="534906917"/>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D8575D-B75E-44BF-830B-387FED20A9E4}"/>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Uniform sampling: broader acceptance coverage</a:t>
            </a:r>
          </a:p>
        </p:txBody>
      </p:sp>
      <p:sp>
        <p:nvSpPr>
          <p:cNvPr id="2" name="">
            <a:extLst xmlns:a="http://schemas.openxmlformats.org/drawingml/2006/main">
              <a:ext uri="{FF2B5EF4-FFF2-40B4-BE49-F238E27FC236}">
                <a16:creationId xmlns:a16="http://schemas.microsoft.com/office/drawing/2014/main" id="{84091C54-E5D0-4016-9DD6-C451D4F50D76}"/>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5A938289-7ED8-44BF-90BA-DD4E6DB014FF}"/>
              </a:ext>
            </a:extLst>
          </p:cNvPr>
          <p:cNvSpPr>
            <a:spLocks xmlns:a="http://schemas.openxmlformats.org/drawingml/2006/main" noGrp="1"/>
          </p:cNvSpPr>
          <p:nvPr/>
        </p:nvSpPr>
        <p:spPr>
          <a:xfrm xmlns:a="http://schemas.openxmlformats.org/drawingml/2006/main">
            <a:off x="628650" y="16192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More channels</a:t>
            </a:r>
          </a:p>
        </p:txBody>
      </p:sp>
      <p:sp>
        <p:nvSpPr>
          <p:cNvPr id="4" name="">
            <a:extLst xmlns:a="http://schemas.openxmlformats.org/drawingml/2006/main">
              <a:ext uri="{FF2B5EF4-FFF2-40B4-BE49-F238E27FC236}">
                <a16:creationId xmlns:a16="http://schemas.microsoft.com/office/drawing/2014/main" id="{5A6D39A0-531D-444A-B065-F8970A1396B4}"/>
              </a:ext>
            </a:extLst>
          </p:cNvPr>
          <p:cNvSpPr>
            <a:spLocks xmlns:a="http://schemas.openxmlformats.org/drawingml/2006/main" noGrp="1"/>
          </p:cNvSpPr>
          <p:nvPr/>
        </p:nvSpPr>
        <p:spPr>
          <a:xfrm xmlns:a="http://schemas.openxmlformats.org/drawingml/2006/main">
            <a:off x="3381375" y="161925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1e and electron tester, plus proton, neutron, π+ and π− in FD or CD</a:t>
            </a:r>
          </a:p>
        </p:txBody>
      </p:sp>
      <p:sp>
        <p:nvSpPr>
          <p:cNvPr id="5" name="">
            <a:extLst xmlns:a="http://schemas.openxmlformats.org/drawingml/2006/main">
              <a:ext uri="{FF2B5EF4-FFF2-40B4-BE49-F238E27FC236}">
                <a16:creationId xmlns:a16="http://schemas.microsoft.com/office/drawing/2014/main" id="{67D12CF1-1E4F-4BF0-BE57-645E03604AC0}"/>
              </a:ext>
            </a:extLst>
          </p:cNvPr>
          <p:cNvSpPr>
            <a:spLocks xmlns:a="http://schemas.openxmlformats.org/drawingml/2006/main" noGrp="1"/>
          </p:cNvSpPr>
          <p:nvPr/>
        </p:nvSpPr>
        <p:spPr>
          <a:xfrm xmlns:a="http://schemas.openxmlformats.org/drawingml/2006/main">
            <a:off x="628650" y="26670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New momentum laws</a:t>
            </a:r>
          </a:p>
        </p:txBody>
      </p:sp>
      <p:sp>
        <p:nvSpPr>
          <p:cNvPr id="6" name="">
            <a:extLst xmlns:a="http://schemas.openxmlformats.org/drawingml/2006/main">
              <a:ext uri="{FF2B5EF4-FFF2-40B4-BE49-F238E27FC236}">
                <a16:creationId xmlns:a16="http://schemas.microsoft.com/office/drawing/2014/main" id="{FAC91659-A690-475D-A0C4-015211E413CB}"/>
              </a:ext>
            </a:extLst>
          </p:cNvPr>
          <p:cNvSpPr>
            <a:spLocks xmlns:a="http://schemas.openxmlformats.org/drawingml/2006/main" noGrp="1"/>
          </p:cNvSpPr>
          <p:nvPr/>
        </p:nvSpPr>
        <p:spPr>
          <a:xfrm xmlns:a="http://schemas.openxmlformats.org/drawingml/2006/main">
            <a:off x="3381375" y="266700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1e and charged hadrons use a 50/50 p and 1/p mixture. Neutrons use uniform p.</a:t>
            </a:r>
          </a:p>
        </p:txBody>
      </p:sp>
      <p:sp>
        <p:nvSpPr>
          <p:cNvPr id="7" name="">
            <a:extLst xmlns:a="http://schemas.openxmlformats.org/drawingml/2006/main">
              <a:ext uri="{FF2B5EF4-FFF2-40B4-BE49-F238E27FC236}">
                <a16:creationId xmlns:a16="http://schemas.microsoft.com/office/drawing/2014/main" id="{704FF100-9A40-4CFD-81CA-11B855A7C38D}"/>
              </a:ext>
            </a:extLst>
          </p:cNvPr>
          <p:cNvSpPr>
            <a:spLocks xmlns:a="http://schemas.openxmlformats.org/drawingml/2006/main" noGrp="1"/>
          </p:cNvSpPr>
          <p:nvPr/>
        </p:nvSpPr>
        <p:spPr>
          <a:xfrm xmlns:a="http://schemas.openxmlformats.org/drawingml/2006/main">
            <a:off x="628650" y="37147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Electron coverage</a:t>
            </a:r>
          </a:p>
        </p:txBody>
      </p:sp>
      <p:sp>
        <p:nvSpPr>
          <p:cNvPr id="8" name="">
            <a:extLst xmlns:a="http://schemas.openxmlformats.org/drawingml/2006/main">
              <a:ext uri="{FF2B5EF4-FFF2-40B4-BE49-F238E27FC236}">
                <a16:creationId xmlns:a16="http://schemas.microsoft.com/office/drawing/2014/main" id="{38C800B5-810A-478B-A3AF-10D42B806655}"/>
              </a:ext>
            </a:extLst>
          </p:cNvPr>
          <p:cNvSpPr>
            <a:spLocks xmlns:a="http://schemas.openxmlformats.org/drawingml/2006/main" noGrp="1"/>
          </p:cNvSpPr>
          <p:nvPr/>
        </p:nvSpPr>
        <p:spPr>
          <a:xfrm xmlns:a="http://schemas.openxmlformats.org/drawingml/2006/main">
            <a:off x="3381375" y="371475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1e starts at 0.7 GeV/c. The 2.07052 GeV profile extends θ down to 2°.</a:t>
            </a:r>
          </a:p>
        </p:txBody>
      </p:sp>
      <p:sp>
        <p:nvSpPr>
          <p:cNvPr id="9" name="">
            <a:extLst xmlns:a="http://schemas.openxmlformats.org/drawingml/2006/main">
              <a:ext uri="{FF2B5EF4-FFF2-40B4-BE49-F238E27FC236}">
                <a16:creationId xmlns:a16="http://schemas.microsoft.com/office/drawing/2014/main" id="{1737AEA1-ABFE-4524-94BD-CF67EC588931}"/>
              </a:ext>
            </a:extLst>
          </p:cNvPr>
          <p:cNvSpPr>
            <a:spLocks xmlns:a="http://schemas.openxmlformats.org/drawingml/2006/main" noGrp="1"/>
          </p:cNvSpPr>
          <p:nvPr/>
        </p:nvSpPr>
        <p:spPr>
          <a:xfrm xmlns:a="http://schemas.openxmlformats.org/drawingml/2006/main">
            <a:off x="628650" y="47625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Preserved correlation</a:t>
            </a:r>
          </a:p>
        </p:txBody>
      </p:sp>
      <p:sp>
        <p:nvSpPr>
          <p:cNvPr id="10" name="">
            <a:extLst xmlns:a="http://schemas.openxmlformats.org/drawingml/2006/main">
              <a:ext uri="{FF2B5EF4-FFF2-40B4-BE49-F238E27FC236}">
                <a16:creationId xmlns:a16="http://schemas.microsoft.com/office/drawing/2014/main" id="{B6004A4B-04FA-4DE8-A40F-2F14C90029CB}"/>
              </a:ext>
            </a:extLst>
          </p:cNvPr>
          <p:cNvSpPr>
            <a:spLocks xmlns:a="http://schemas.openxmlformats.org/drawingml/2006/main" noGrp="1"/>
          </p:cNvSpPr>
          <p:nvPr/>
        </p:nvSpPr>
        <p:spPr>
          <a:xfrm xmlns:a="http://schemas.openxmlformats.org/drawingml/2006/main">
            <a:off x="3381375" y="476250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Electron–hadron events retain the beam-momentum, 25° trigger electron near the opposite sector.</a:t>
            </a:r>
          </a:p>
        </p:txBody>
      </p:sp>
    </p:spTree>
    <p:extLst>
      <p:ext uri="{BB962C8B-B14F-4D97-AF65-F5344CB8AC3E}">
        <p14:creationId xmlns:p14="http://schemas.microsoft.com/office/powerpoint/2010/main" val="739877383"/>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BE86D3-C0D7-463B-8854-ED90B8D64A11}"/>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GENIE conversion: preserved truth, safer input</a:t>
            </a:r>
          </a:p>
        </p:txBody>
      </p:sp>
      <p:sp>
        <p:nvSpPr>
          <p:cNvPr id="2" name="">
            <a:extLst xmlns:a="http://schemas.openxmlformats.org/drawingml/2006/main">
              <a:ext uri="{FF2B5EF4-FFF2-40B4-BE49-F238E27FC236}">
                <a16:creationId xmlns:a16="http://schemas.microsoft.com/office/drawing/2014/main" id="{E9E24AA4-2A27-441E-B629-FBDB104BAC93}"/>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3657B902-A1A6-45D7-AAAF-8F2E8019B561}"/>
              </a:ext>
            </a:extLst>
          </p:cNvPr>
          <p:cNvSpPr>
            <a:spLocks xmlns:a="http://schemas.openxmlformats.org/drawingml/2006/main" noGrp="1"/>
          </p:cNvSpPr>
          <p:nvPr/>
        </p:nvSpPr>
        <p:spPr>
          <a:xfrm xmlns:a="http://schemas.openxmlformats.org/drawingml/2006/main">
            <a:off x="628650" y="15430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526574"/>
                </a:solidFill>
                <a:latin typeface="Helvetica Neue"/>
                <a:ea typeface="Helvetica Neue"/>
                <a:cs typeface="Helvetica Neue"/>
              </a:defRPr>
            </a:pPr>
            <a:r>
              <a:rPr sz="1725" b="1">
                <a:solidFill>
                  <a:srgbClr val="526574"/>
                </a:solidFill>
                <a:latin typeface="Helvetica Neue"/>
                <a:ea typeface="Helvetica Neue"/>
                <a:cs typeface="Helvetica Neue"/>
              </a:rPr>
              <a:t>LEGACY</a:t>
            </a:r>
          </a:p>
        </p:txBody>
      </p:sp>
      <p:sp>
        <p:nvSpPr>
          <p:cNvPr id="4" name="">
            <a:extLst xmlns:a="http://schemas.openxmlformats.org/drawingml/2006/main">
              <a:ext uri="{FF2B5EF4-FFF2-40B4-BE49-F238E27FC236}">
                <a16:creationId xmlns:a16="http://schemas.microsoft.com/office/drawing/2014/main" id="{6D332AFE-4FC1-4B41-956C-15B8F7B250DD}"/>
              </a:ext>
            </a:extLst>
          </p:cNvPr>
          <p:cNvSpPr>
            <a:spLocks xmlns:a="http://schemas.openxmlformats.org/drawingml/2006/main" noGrp="1"/>
          </p:cNvSpPr>
          <p:nvPr/>
        </p:nvSpPr>
        <p:spPr>
          <a:xfrm xmlns:a="http://schemas.openxmlformats.org/drawingml/2006/main">
            <a:off x="6286500" y="15430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37C87"/>
                </a:solidFill>
                <a:latin typeface="Helvetica Neue"/>
                <a:ea typeface="Helvetica Neue"/>
                <a:cs typeface="Helvetica Neue"/>
              </a:defRPr>
            </a:pPr>
            <a:r>
              <a:rPr sz="1725" b="1">
                <a:solidFill>
                  <a:srgbClr val="137C87"/>
                </a:solidFill>
                <a:latin typeface="Helvetica Neue"/>
                <a:ea typeface="Helvetica Neue"/>
                <a:cs typeface="Helvetica Neue"/>
              </a:rPr>
              <a:t>CURRENT IMPLEMENTATION</a:t>
            </a:r>
          </a:p>
        </p:txBody>
      </p:sp>
      <p:sp>
        <p:nvSpPr>
          <p:cNvPr id="5" name="">
            <a:extLst xmlns:a="http://schemas.openxmlformats.org/drawingml/2006/main">
              <a:ext uri="{FF2B5EF4-FFF2-40B4-BE49-F238E27FC236}">
                <a16:creationId xmlns:a16="http://schemas.microsoft.com/office/drawing/2014/main" id="{22D787A8-3A28-4FD2-9717-9C445124B7AE}"/>
              </a:ext>
            </a:extLst>
          </p:cNvPr>
          <p:cNvSpPr>
            <a:spLocks xmlns:a="http://schemas.openxmlformats.org/drawingml/2006/main" noGrp="1"/>
          </p:cNvSpPr>
          <p:nvPr/>
        </p:nvSpPr>
        <p:spPr>
          <a:xfrm xmlns:a="http://schemas.openxmlformats.org/drawingml/2006/main">
            <a:off x="628650" y="21717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Fixed final-state arrays with capacity for 250 particles</a:t>
            </a:r>
          </a:p>
        </p:txBody>
      </p:sp>
      <p:sp>
        <p:nvSpPr>
          <p:cNvPr id="6" name="">
            <a:extLst xmlns:a="http://schemas.openxmlformats.org/drawingml/2006/main">
              <a:ext uri="{FF2B5EF4-FFF2-40B4-BE49-F238E27FC236}">
                <a16:creationId xmlns:a16="http://schemas.microsoft.com/office/drawing/2014/main" id="{EFC83D9C-A0F4-4D97-8C91-5C6A9885A7CA}"/>
              </a:ext>
            </a:extLst>
          </p:cNvPr>
          <p:cNvSpPr>
            <a:spLocks xmlns:a="http://schemas.openxmlformats.org/drawingml/2006/main" noGrp="1"/>
          </p:cNvSpPr>
          <p:nvPr/>
        </p:nvSpPr>
        <p:spPr>
          <a:xfrm xmlns:a="http://schemas.openxmlformats.org/drawingml/2006/main">
            <a:off x="628650" y="33909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Early-stop condition can truncate the final partial file</a:t>
            </a:r>
          </a:p>
        </p:txBody>
      </p:sp>
      <p:sp>
        <p:nvSpPr>
          <p:cNvPr id="7" name="">
            <a:extLst xmlns:a="http://schemas.openxmlformats.org/drawingml/2006/main">
              <a:ext uri="{FF2B5EF4-FFF2-40B4-BE49-F238E27FC236}">
                <a16:creationId xmlns:a16="http://schemas.microsoft.com/office/drawing/2014/main" id="{BE929B9A-EB18-4AA9-81AD-4126EB241CA2}"/>
              </a:ext>
            </a:extLst>
          </p:cNvPr>
          <p:cNvSpPr>
            <a:spLocks xmlns:a="http://schemas.openxmlformats.org/drawingml/2006/main" noGrp="1"/>
          </p:cNvSpPr>
          <p:nvPr/>
        </p:nvSpPr>
        <p:spPr>
          <a:xfrm xmlns:a="http://schemas.openxmlformats.org/drawingml/2006/main">
            <a:off x="628650" y="46101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Conversion macro owns output handling and diagnostic plots</a:t>
            </a:r>
          </a:p>
        </p:txBody>
      </p:sp>
      <p:sp>
        <p:nvSpPr>
          <p:cNvPr id="8" name="">
            <a:extLst xmlns:a="http://schemas.openxmlformats.org/drawingml/2006/main">
              <a:ext uri="{FF2B5EF4-FFF2-40B4-BE49-F238E27FC236}">
                <a16:creationId xmlns:a16="http://schemas.microsoft.com/office/drawing/2014/main" id="{3255D36A-0D47-42D2-87B8-5F33B3D47148}"/>
              </a:ext>
            </a:extLst>
          </p:cNvPr>
          <p:cNvSpPr>
            <a:spLocks xmlns:a="http://schemas.openxmlformats.org/drawingml/2006/main" noGrp="1"/>
          </p:cNvSpPr>
          <p:nvPr/>
        </p:nvSpPr>
        <p:spPr>
          <a:xfrm xmlns:a="http://schemas.openxmlformats.org/drawingml/2006/main">
            <a:off x="6286500" y="21717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Typed, dynamic ROOT readers with schema and array-length checks</a:t>
            </a:r>
          </a:p>
        </p:txBody>
      </p:sp>
      <p:sp>
        <p:nvSpPr>
          <p:cNvPr id="9" name="">
            <a:extLst xmlns:a="http://schemas.openxmlformats.org/drawingml/2006/main">
              <a:ext uri="{FF2B5EF4-FFF2-40B4-BE49-F238E27FC236}">
                <a16:creationId xmlns:a16="http://schemas.microsoft.com/office/drawing/2014/main" id="{1E9B16F2-CD22-43EE-BF8A-A645E976DD74}"/>
              </a:ext>
            </a:extLst>
          </p:cNvPr>
          <p:cNvSpPr>
            <a:spLocks xmlns:a="http://schemas.openxmlformats.org/drawingml/2006/main" noGrp="1"/>
          </p:cNvSpPr>
          <p:nvPr/>
        </p:nvSpPr>
        <p:spPr>
          <a:xfrm xmlns:a="http://schemas.openxmlformats.org/drawingml/2006/main">
            <a:off x="6286500" y="33909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Retains accepted events to capacity or input exhaustion, including the last partial file</a:t>
            </a:r>
          </a:p>
        </p:txBody>
      </p:sp>
      <p:sp>
        <p:nvSpPr>
          <p:cNvPr id="10" name="">
            <a:extLst xmlns:a="http://schemas.openxmlformats.org/drawingml/2006/main">
              <a:ext uri="{FF2B5EF4-FFF2-40B4-BE49-F238E27FC236}">
                <a16:creationId xmlns:a16="http://schemas.microsoft.com/office/drawing/2014/main" id="{A109CE89-9080-4F41-AC76-6913786FE55E}"/>
              </a:ext>
            </a:extLst>
          </p:cNvPr>
          <p:cNvSpPr>
            <a:spLocks xmlns:a="http://schemas.openxmlformats.org/drawingml/2006/main" noGrp="1"/>
          </p:cNvSpPr>
          <p:nvPr/>
        </p:nvSpPr>
        <p:spPr>
          <a:xfrm xmlns:a="http://schemas.openxmlformats.org/drawingml/2006/main">
            <a:off x="6286500" y="46101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Shared writer, separate scanned/rejected/written counts and no physical monitoring plots</a:t>
            </a:r>
          </a:p>
        </p:txBody>
      </p:sp>
    </p:spTree>
    <p:extLst>
      <p:ext uri="{BB962C8B-B14F-4D97-AF65-F5344CB8AC3E}">
        <p14:creationId xmlns:p14="http://schemas.microsoft.com/office/powerpoint/2010/main" val="1647550882"/>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50C281-CA54-4469-B2B4-DDE624A1A3B0}"/>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Explicit metadata and reproducibility</a:t>
            </a:r>
          </a:p>
        </p:txBody>
      </p:sp>
      <p:sp>
        <p:nvSpPr>
          <p:cNvPr id="2" name="">
            <a:extLst xmlns:a="http://schemas.openxmlformats.org/drawingml/2006/main">
              <a:ext uri="{FF2B5EF4-FFF2-40B4-BE49-F238E27FC236}">
                <a16:creationId xmlns:a16="http://schemas.microsoft.com/office/drawing/2014/main" id="{67FA3426-31DC-445B-9CE5-8CEA94254D30}"/>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2EB4B571-6C13-4AC9-9E45-FEA8ABEC2FDA}"/>
              </a:ext>
            </a:extLst>
          </p:cNvPr>
          <p:cNvSpPr>
            <a:spLocks xmlns:a="http://schemas.openxmlformats.org/drawingml/2006/main" noGrp="1"/>
          </p:cNvSpPr>
          <p:nvPr/>
        </p:nvSpPr>
        <p:spPr>
          <a:xfrm xmlns:a="http://schemas.openxmlformats.org/drawingml/2006/main">
            <a:off x="628650" y="15811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Target identity</a:t>
            </a:r>
          </a:p>
        </p:txBody>
      </p:sp>
      <p:sp>
        <p:nvSpPr>
          <p:cNvPr id="4" name="">
            <a:extLst xmlns:a="http://schemas.openxmlformats.org/drawingml/2006/main">
              <a:ext uri="{FF2B5EF4-FFF2-40B4-BE49-F238E27FC236}">
                <a16:creationId xmlns:a16="http://schemas.microsoft.com/office/drawing/2014/main" id="{CCE44A6A-FB57-4B4D-A372-FE0855FF1422}"/>
              </a:ext>
            </a:extLst>
          </p:cNvPr>
          <p:cNvSpPr>
            <a:spLocks xmlns:a="http://schemas.openxmlformats.org/drawingml/2006/main" noGrp="1"/>
          </p:cNvSpPr>
          <p:nvPr/>
        </p:nvSpPr>
        <p:spPr>
          <a:xfrm xmlns:a="http://schemas.openxmlformats.org/drawingml/2006/main">
            <a:off x="3381375" y="158115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Ar40 profiles resolve geometry Ar and A=40, Z=18. Each event shares one vertex across all particles.</a:t>
            </a:r>
          </a:p>
        </p:txBody>
      </p:sp>
      <p:sp>
        <p:nvSpPr>
          <p:cNvPr id="5" name="">
            <a:extLst xmlns:a="http://schemas.openxmlformats.org/drawingml/2006/main">
              <a:ext uri="{FF2B5EF4-FFF2-40B4-BE49-F238E27FC236}">
                <a16:creationId xmlns:a16="http://schemas.microsoft.com/office/drawing/2014/main" id="{3890D38C-CF6A-412D-BE32-95899DD98090}"/>
              </a:ext>
            </a:extLst>
          </p:cNvPr>
          <p:cNvSpPr>
            <a:spLocks xmlns:a="http://schemas.openxmlformats.org/drawingml/2006/main" noGrp="1"/>
          </p:cNvSpPr>
          <p:nvPr/>
        </p:nvSpPr>
        <p:spPr>
          <a:xfrm xmlns:a="http://schemas.openxmlformats.org/drawingml/2006/main">
            <a:off x="628650" y="26479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Random streams</a:t>
            </a:r>
          </a:p>
        </p:txBody>
      </p:sp>
      <p:sp>
        <p:nvSpPr>
          <p:cNvPr id="6" name="">
            <a:extLst xmlns:a="http://schemas.openxmlformats.org/drawingml/2006/main">
              <a:ext uri="{FF2B5EF4-FFF2-40B4-BE49-F238E27FC236}">
                <a16:creationId xmlns:a16="http://schemas.microsoft.com/office/drawing/2014/main" id="{AD73DE18-26DA-447F-BCFD-48F14DA3064A}"/>
              </a:ext>
            </a:extLst>
          </p:cNvPr>
          <p:cNvSpPr>
            <a:spLocks xmlns:a="http://schemas.openxmlformats.org/drawingml/2006/main" noGrp="1"/>
          </p:cNvSpPr>
          <p:nvPr/>
        </p:nvSpPr>
        <p:spPr>
          <a:xfrm xmlns:a="http://schemas.openxmlformats.org/drawingml/2006/main">
            <a:off x="3381375" y="264795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Separate kinematic and vertex seeds. Nonzero seeds support repeatability; seed 0 remains automatic.</a:t>
            </a:r>
          </a:p>
        </p:txBody>
      </p:sp>
      <p:sp>
        <p:nvSpPr>
          <p:cNvPr id="7" name="">
            <a:extLst xmlns:a="http://schemas.openxmlformats.org/drawingml/2006/main">
              <a:ext uri="{FF2B5EF4-FFF2-40B4-BE49-F238E27FC236}">
                <a16:creationId xmlns:a16="http://schemas.microsoft.com/office/drawing/2014/main" id="{3958EF85-8897-4F4A-BF3A-6EAD115BFD66}"/>
              </a:ext>
            </a:extLst>
          </p:cNvPr>
          <p:cNvSpPr>
            <a:spLocks xmlns:a="http://schemas.openxmlformats.org/drawingml/2006/main" noGrp="1"/>
          </p:cNvSpPr>
          <p:nvPr/>
        </p:nvSpPr>
        <p:spPr>
          <a:xfrm xmlns:a="http://schemas.openxmlformats.org/drawingml/2006/main">
            <a:off x="628650" y="37147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Run provenance</a:t>
            </a:r>
          </a:p>
        </p:txBody>
      </p:sp>
      <p:sp>
        <p:nvSpPr>
          <p:cNvPr id="8" name="">
            <a:extLst xmlns:a="http://schemas.openxmlformats.org/drawingml/2006/main">
              <a:ext uri="{FF2B5EF4-FFF2-40B4-BE49-F238E27FC236}">
                <a16:creationId xmlns:a16="http://schemas.microsoft.com/office/drawing/2014/main" id="{7C80DD4A-74E4-49CD-8DF3-6915FA785939}"/>
              </a:ext>
            </a:extLst>
          </p:cNvPr>
          <p:cNvSpPr>
            <a:spLocks xmlns:a="http://schemas.openxmlformats.org/drawingml/2006/main" noGrp="1"/>
          </p:cNvSpPr>
          <p:nvPr/>
        </p:nvSpPr>
        <p:spPr>
          <a:xfrm xmlns:a="http://schemas.openxmlformats.org/drawingml/2006/main">
            <a:off x="3381375" y="371475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Manifest records resolved settings, versions and file counts. Physical names use explicit metadata.</a:t>
            </a:r>
          </a:p>
        </p:txBody>
      </p:sp>
      <p:sp>
        <p:nvSpPr>
          <p:cNvPr id="9" name="">
            <a:extLst xmlns:a="http://schemas.openxmlformats.org/drawingml/2006/main">
              <a:ext uri="{FF2B5EF4-FFF2-40B4-BE49-F238E27FC236}">
                <a16:creationId xmlns:a16="http://schemas.microsoft.com/office/drawing/2014/main" id="{FF06877C-54DD-4323-889F-CA78FBAD026D}"/>
              </a:ext>
            </a:extLst>
          </p:cNvPr>
          <p:cNvSpPr>
            <a:spLocks xmlns:a="http://schemas.openxmlformats.org/drawingml/2006/main" noGrp="1"/>
          </p:cNvSpPr>
          <p:nvPr/>
        </p:nvSpPr>
        <p:spPr>
          <a:xfrm xmlns:a="http://schemas.openxmlformats.org/drawingml/2006/main">
            <a:off x="628650" y="47815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Consistent products</a:t>
            </a:r>
          </a:p>
        </p:txBody>
      </p:sp>
      <p:sp>
        <p:nvSpPr>
          <p:cNvPr id="10" name="">
            <a:extLst xmlns:a="http://schemas.openxmlformats.org/drawingml/2006/main">
              <a:ext uri="{FF2B5EF4-FFF2-40B4-BE49-F238E27FC236}">
                <a16:creationId xmlns:a16="http://schemas.microsoft.com/office/drawing/2014/main" id="{E8130588-F2F7-4DE1-B891-D359EA2AC879}"/>
              </a:ext>
            </a:extLst>
          </p:cNvPr>
          <p:cNvSpPr>
            <a:spLocks xmlns:a="http://schemas.openxmlformats.org/drawingml/2006/main" noGrp="1"/>
          </p:cNvSpPr>
          <p:nvPr/>
        </p:nvSpPr>
        <p:spPr>
          <a:xfrm xmlns:a="http://schemas.openxmlformats.org/drawingml/2006/main">
            <a:off x="3381375" y="478155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One mass table and one LUND writer. Uniform diagnostics share a single ROOT file with PDF/PNG plots.</a:t>
            </a:r>
          </a:p>
        </p:txBody>
      </p:sp>
    </p:spTree>
    <p:extLst>
      <p:ext uri="{BB962C8B-B14F-4D97-AF65-F5344CB8AC3E}">
        <p14:creationId xmlns:p14="http://schemas.microsoft.com/office/powerpoint/2010/main" val="1539952939"/>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0074BB-8BC8-42E3-9BDB-6A4E36CB6C26}"/>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Unified ifarm submission</a:t>
            </a:r>
          </a:p>
        </p:txBody>
      </p:sp>
      <p:sp>
        <p:nvSpPr>
          <p:cNvPr id="2" name="">
            <a:extLst xmlns:a="http://schemas.openxmlformats.org/drawingml/2006/main">
              <a:ext uri="{FF2B5EF4-FFF2-40B4-BE49-F238E27FC236}">
                <a16:creationId xmlns:a16="http://schemas.microsoft.com/office/drawing/2014/main" id="{E3EC0B2E-086D-4914-97A8-D14B68AA79B5}"/>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C422EE83-BD32-47DA-ACA8-30043CFB87F2}"/>
              </a:ext>
            </a:extLst>
          </p:cNvPr>
          <p:cNvSpPr>
            <a:spLocks xmlns:a="http://schemas.openxmlformats.org/drawingml/2006/main" noGrp="1"/>
          </p:cNvSpPr>
          <p:nvPr/>
        </p:nvSpPr>
        <p:spPr>
          <a:xfrm xmlns:a="http://schemas.openxmlformats.org/drawingml/2006/main">
            <a:off x="628650" y="15430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526574"/>
                </a:solidFill>
                <a:latin typeface="Helvetica Neue"/>
                <a:ea typeface="Helvetica Neue"/>
                <a:cs typeface="Helvetica Neue"/>
              </a:defRPr>
            </a:pPr>
            <a:r>
              <a:rPr sz="1725" b="1">
                <a:solidFill>
                  <a:srgbClr val="526574"/>
                </a:solidFill>
                <a:latin typeface="Helvetica Neue"/>
                <a:ea typeface="Helvetica Neue"/>
                <a:cs typeface="Helvetica Neue"/>
              </a:rPr>
              <a:t>LEGACY</a:t>
            </a:r>
          </a:p>
        </p:txBody>
      </p:sp>
      <p:sp>
        <p:nvSpPr>
          <p:cNvPr id="4" name="">
            <a:extLst xmlns:a="http://schemas.openxmlformats.org/drawingml/2006/main">
              <a:ext uri="{FF2B5EF4-FFF2-40B4-BE49-F238E27FC236}">
                <a16:creationId xmlns:a16="http://schemas.microsoft.com/office/drawing/2014/main" id="{E321F871-5D6A-4AF2-BD4B-F4FC5E125018}"/>
              </a:ext>
            </a:extLst>
          </p:cNvPr>
          <p:cNvSpPr>
            <a:spLocks xmlns:a="http://schemas.openxmlformats.org/drawingml/2006/main" noGrp="1"/>
          </p:cNvSpPr>
          <p:nvPr/>
        </p:nvSpPr>
        <p:spPr>
          <a:xfrm xmlns:a="http://schemas.openxmlformats.org/drawingml/2006/main">
            <a:off x="6286500" y="15430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37C87"/>
                </a:solidFill>
                <a:latin typeface="Helvetica Neue"/>
                <a:ea typeface="Helvetica Neue"/>
                <a:cs typeface="Helvetica Neue"/>
              </a:defRPr>
            </a:pPr>
            <a:r>
              <a:rPr sz="1725" b="1">
                <a:solidFill>
                  <a:srgbClr val="137C87"/>
                </a:solidFill>
                <a:latin typeface="Helvetica Neue"/>
                <a:ea typeface="Helvetica Neue"/>
                <a:cs typeface="Helvetica Neue"/>
              </a:rPr>
              <a:t>CURRENT IMPLEMENTATION</a:t>
            </a:r>
          </a:p>
        </p:txBody>
      </p:sp>
      <p:sp>
        <p:nvSpPr>
          <p:cNvPr id="5" name="">
            <a:extLst xmlns:a="http://schemas.openxmlformats.org/drawingml/2006/main">
              <a:ext uri="{FF2B5EF4-FFF2-40B4-BE49-F238E27FC236}">
                <a16:creationId xmlns:a16="http://schemas.microsoft.com/office/drawing/2014/main" id="{2278FD0B-A41E-4848-B3C7-9D4CC75358BB}"/>
              </a:ext>
            </a:extLst>
          </p:cNvPr>
          <p:cNvSpPr>
            <a:spLocks xmlns:a="http://schemas.openxmlformats.org/drawingml/2006/main" noGrp="1"/>
          </p:cNvSpPr>
          <p:nvPr/>
        </p:nvSpPr>
        <p:spPr>
          <a:xfrm xmlns:a="http://schemas.openxmlformats.org/drawingml/2006/main">
            <a:off x="628650" y="21717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Separate uniform and GENIE setup scripts with manually chosen sample paths</a:t>
            </a:r>
          </a:p>
        </p:txBody>
      </p:sp>
      <p:sp>
        <p:nvSpPr>
          <p:cNvPr id="6" name="">
            <a:extLst xmlns:a="http://schemas.openxmlformats.org/drawingml/2006/main">
              <a:ext uri="{FF2B5EF4-FFF2-40B4-BE49-F238E27FC236}">
                <a16:creationId xmlns:a16="http://schemas.microsoft.com/office/drawing/2014/main" id="{5C252A62-3DB4-47FD-924B-FFCD74A60B6A}"/>
              </a:ext>
            </a:extLst>
          </p:cNvPr>
          <p:cNvSpPr>
            <a:spLocks xmlns:a="http://schemas.openxmlformats.org/drawingml/2006/main" noGrp="1"/>
          </p:cNvSpPr>
          <p:nvPr/>
        </p:nvSpPr>
        <p:spPr>
          <a:xfrm xmlns:a="http://schemas.openxmlformats.org/drawingml/2006/main">
            <a:off x="628650" y="33909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Hard-coded file counts and detector settings distributed across scripts</a:t>
            </a:r>
          </a:p>
        </p:txBody>
      </p:sp>
      <p:sp>
        <p:nvSpPr>
          <p:cNvPr id="7" name="">
            <a:extLst xmlns:a="http://schemas.openxmlformats.org/drawingml/2006/main">
              <a:ext uri="{FF2B5EF4-FFF2-40B4-BE49-F238E27FC236}">
                <a16:creationId xmlns:a16="http://schemas.microsoft.com/office/drawing/2014/main" id="{106ADFB3-899A-49DA-B660-BC75FAAA36DF}"/>
              </a:ext>
            </a:extLst>
          </p:cNvPr>
          <p:cNvSpPr>
            <a:spLocks xmlns:a="http://schemas.openxmlformats.org/drawingml/2006/main" noGrp="1"/>
          </p:cNvSpPr>
          <p:nvPr/>
        </p:nvSpPr>
        <p:spPr>
          <a:xfrm xmlns:a="http://schemas.openxmlformats.org/drawingml/2006/main">
            <a:off x="628650" y="461010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Site-specific update and cleanup behavior inside launch scripts</a:t>
            </a:r>
          </a:p>
        </p:txBody>
      </p:sp>
      <p:sp>
        <p:nvSpPr>
          <p:cNvPr id="8" name="">
            <a:extLst xmlns:a="http://schemas.openxmlformats.org/drawingml/2006/main">
              <a:ext uri="{FF2B5EF4-FFF2-40B4-BE49-F238E27FC236}">
                <a16:creationId xmlns:a16="http://schemas.microsoft.com/office/drawing/2014/main" id="{2B12222A-3FB8-4A98-9ADB-BD676EBB4211}"/>
              </a:ext>
            </a:extLst>
          </p:cNvPr>
          <p:cNvSpPr>
            <a:spLocks xmlns:a="http://schemas.openxmlformats.org/drawingml/2006/main" noGrp="1"/>
          </p:cNvSpPr>
          <p:nvPr/>
        </p:nvSpPr>
        <p:spPr>
          <a:xfrm xmlns:a="http://schemas.openxmlformats.org/drawingml/2006/main">
            <a:off x="6286500" y="21717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One coordinator consumes completed LUND runs and submits one array per sample</a:t>
            </a:r>
          </a:p>
        </p:txBody>
      </p:sp>
      <p:sp>
        <p:nvSpPr>
          <p:cNvPr id="9" name="">
            <a:extLst xmlns:a="http://schemas.openxmlformats.org/drawingml/2006/main">
              <a:ext uri="{FF2B5EF4-FFF2-40B4-BE49-F238E27FC236}">
                <a16:creationId xmlns:a16="http://schemas.microsoft.com/office/drawing/2014/main" id="{A5ED2255-290D-4ECA-936E-C86B74DF19CA}"/>
              </a:ext>
            </a:extLst>
          </p:cNvPr>
          <p:cNvSpPr>
            <a:spLocks xmlns:a="http://schemas.openxmlformats.org/drawingml/2006/main" noGrp="1"/>
          </p:cNvSpPr>
          <p:nvPr/>
        </p:nvSpPr>
        <p:spPr>
          <a:xfrm xmlns:a="http://schemas.openxmlformats.org/drawingml/2006/main">
            <a:off x="6286500" y="33909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Manifest-driven counts, validated GCARD/YAML inputs and selected GEMC version</a:t>
            </a:r>
          </a:p>
        </p:txBody>
      </p:sp>
      <p:sp>
        <p:nvSpPr>
          <p:cNvPr id="10" name="">
            <a:extLst xmlns:a="http://schemas.openxmlformats.org/drawingml/2006/main">
              <a:ext uri="{FF2B5EF4-FFF2-40B4-BE49-F238E27FC236}">
                <a16:creationId xmlns:a16="http://schemas.microsoft.com/office/drawing/2014/main" id="{37E00EB1-FA9B-4EA6-A695-639CAA769D49}"/>
              </a:ext>
            </a:extLst>
          </p:cNvPr>
          <p:cNvSpPr>
            <a:spLocks xmlns:a="http://schemas.openxmlformats.org/drawingml/2006/main" noGrp="1"/>
          </p:cNvSpPr>
          <p:nvPr/>
        </p:nvSpPr>
        <p:spPr>
          <a:xfrm xmlns:a="http://schemas.openxmlformats.org/drawingml/2006/main">
            <a:off x="6286500" y="461010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2E40"/>
                </a:solidFill>
                <a:latin typeface="Helvetica Neue"/>
                <a:ea typeface="Helvetica Neue"/>
                <a:cs typeface="Helvetica Neue"/>
              </a:defRPr>
            </a:pPr>
            <a:r>
              <a:rPr sz="2175" b="0">
                <a:solidFill>
                  <a:srgbClr val="182E40"/>
                </a:solidFill>
                <a:latin typeface="Helvetica Neue"/>
                <a:ea typeface="Helvetica Neue"/>
                <a:cs typeface="Helvetica Neue"/>
              </a:rPr>
              <a:t>Preview by default, --execute for jobs. The ifarm checkout remains an intentional disposable mirror</a:t>
            </a:r>
          </a:p>
        </p:txBody>
      </p:sp>
    </p:spTree>
    <p:extLst>
      <p:ext uri="{BB962C8B-B14F-4D97-AF65-F5344CB8AC3E}">
        <p14:creationId xmlns:p14="http://schemas.microsoft.com/office/powerpoint/2010/main" val="302352727"/>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7C3DCF-B379-417F-87BE-B5532FFC492E}"/>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Documented ownership and configuration</a:t>
            </a:r>
          </a:p>
        </p:txBody>
      </p:sp>
      <p:sp>
        <p:nvSpPr>
          <p:cNvPr id="2" name="">
            <a:extLst xmlns:a="http://schemas.openxmlformats.org/drawingml/2006/main">
              <a:ext uri="{FF2B5EF4-FFF2-40B4-BE49-F238E27FC236}">
                <a16:creationId xmlns:a16="http://schemas.microsoft.com/office/drawing/2014/main" id="{EF9A8397-2418-41C8-879A-43766B7CC8B3}"/>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3964476A-9CD1-4164-909E-37739A5DCB69}"/>
              </a:ext>
            </a:extLst>
          </p:cNvPr>
          <p:cNvSpPr>
            <a:spLocks xmlns:a="http://schemas.openxmlformats.org/drawingml/2006/main" noGrp="1"/>
          </p:cNvSpPr>
          <p:nvPr/>
        </p:nvSpPr>
        <p:spPr>
          <a:xfrm xmlns:a="http://schemas.openxmlformats.org/drawingml/2006/main">
            <a:off x="628650" y="16383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Scientific settings</a:t>
            </a:r>
          </a:p>
        </p:txBody>
      </p:sp>
      <p:sp>
        <p:nvSpPr>
          <p:cNvPr id="4" name="">
            <a:extLst xmlns:a="http://schemas.openxmlformats.org/drawingml/2006/main">
              <a:ext uri="{FF2B5EF4-FFF2-40B4-BE49-F238E27FC236}">
                <a16:creationId xmlns:a16="http://schemas.microsoft.com/office/drawing/2014/main" id="{ADC3A37A-CF19-4F6C-9C94-B52BB5AB643D}"/>
              </a:ext>
            </a:extLst>
          </p:cNvPr>
          <p:cNvSpPr>
            <a:spLocks xmlns:a="http://schemas.openxmlformats.org/drawingml/2006/main" noGrp="1"/>
          </p:cNvSpPr>
          <p:nvPr/>
        </p:nvSpPr>
        <p:spPr>
          <a:xfrm xmlns:a="http://schemas.openxmlformats.org/drawingml/2006/main">
            <a:off x="3381375" y="163830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config/samples/*.conf holds beam, target, channel, event counts and sampling choices.</a:t>
            </a:r>
          </a:p>
        </p:txBody>
      </p:sp>
      <p:sp>
        <p:nvSpPr>
          <p:cNvPr id="5" name="">
            <a:extLst xmlns:a="http://schemas.openxmlformats.org/drawingml/2006/main">
              <a:ext uri="{FF2B5EF4-FFF2-40B4-BE49-F238E27FC236}">
                <a16:creationId xmlns:a16="http://schemas.microsoft.com/office/drawing/2014/main" id="{0CBD29CD-B566-414B-B059-239591C13FFC}"/>
              </a:ext>
            </a:extLst>
          </p:cNvPr>
          <p:cNvSpPr>
            <a:spLocks xmlns:a="http://schemas.openxmlformats.org/drawingml/2006/main" noGrp="1"/>
          </p:cNvSpPr>
          <p:nvPr/>
        </p:nvSpPr>
        <p:spPr>
          <a:xfrm xmlns:a="http://schemas.openxmlformats.org/drawingml/2006/main">
            <a:off x="628650" y="27146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Build and submission</a:t>
            </a:r>
          </a:p>
        </p:txBody>
      </p:sp>
      <p:sp>
        <p:nvSpPr>
          <p:cNvPr id="6" name="">
            <a:extLst xmlns:a="http://schemas.openxmlformats.org/drawingml/2006/main">
              <a:ext uri="{FF2B5EF4-FFF2-40B4-BE49-F238E27FC236}">
                <a16:creationId xmlns:a16="http://schemas.microsoft.com/office/drawing/2014/main" id="{EC0CB925-C479-4A0C-8CB2-A2B74D799191}"/>
              </a:ext>
            </a:extLst>
          </p:cNvPr>
          <p:cNvSpPr>
            <a:spLocks xmlns:a="http://schemas.openxmlformats.org/drawingml/2006/main" noGrp="1"/>
          </p:cNvSpPr>
          <p:nvPr/>
        </p:nvSpPr>
        <p:spPr>
          <a:xfrm xmlns:a="http://schemas.openxmlformats.org/drawingml/2006/main">
            <a:off x="3381375" y="2714625"/>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config/run.json controls builds. config/submission.conf and CLI overrides control job setup.</a:t>
            </a:r>
          </a:p>
        </p:txBody>
      </p:sp>
      <p:sp>
        <p:nvSpPr>
          <p:cNvPr id="7" name="">
            <a:extLst xmlns:a="http://schemas.openxmlformats.org/drawingml/2006/main">
              <a:ext uri="{FF2B5EF4-FFF2-40B4-BE49-F238E27FC236}">
                <a16:creationId xmlns:a16="http://schemas.microsoft.com/office/drawing/2014/main" id="{C17796D5-E24C-4207-B81E-F6895EAA7502}"/>
              </a:ext>
            </a:extLst>
          </p:cNvPr>
          <p:cNvSpPr>
            <a:spLocks xmlns:a="http://schemas.openxmlformats.org/drawingml/2006/main" noGrp="1"/>
          </p:cNvSpPr>
          <p:nvPr/>
        </p:nvSpPr>
        <p:spPr>
          <a:xfrm xmlns:a="http://schemas.openxmlformats.org/drawingml/2006/main">
            <a:off x="628650" y="37909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Maintained code</a:t>
            </a:r>
          </a:p>
        </p:txBody>
      </p:sp>
      <p:sp>
        <p:nvSpPr>
          <p:cNvPr id="8" name="">
            <a:extLst xmlns:a="http://schemas.openxmlformats.org/drawingml/2006/main">
              <a:ext uri="{FF2B5EF4-FFF2-40B4-BE49-F238E27FC236}">
                <a16:creationId xmlns:a16="http://schemas.microsoft.com/office/drawing/2014/main" id="{58EA5ECC-AD63-4E11-BEB5-ED8D9A1E9DB3}"/>
              </a:ext>
            </a:extLst>
          </p:cNvPr>
          <p:cNvSpPr>
            <a:spLocks xmlns:a="http://schemas.openxmlformats.org/drawingml/2006/main" noGrp="1"/>
          </p:cNvSpPr>
          <p:nvPr/>
        </p:nvSpPr>
        <p:spPr>
          <a:xfrm xmlns:a="http://schemas.openxmlformats.org/drawingml/2006/main">
            <a:off x="3381375" y="379095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Purpose and workflow descriptions, function contracts, named regions and formatter rules make responsibilities explicit.</a:t>
            </a:r>
          </a:p>
        </p:txBody>
      </p:sp>
      <p:sp>
        <p:nvSpPr>
          <p:cNvPr id="9" name="">
            <a:extLst xmlns:a="http://schemas.openxmlformats.org/drawingml/2006/main">
              <a:ext uri="{FF2B5EF4-FFF2-40B4-BE49-F238E27FC236}">
                <a16:creationId xmlns:a16="http://schemas.microsoft.com/office/drawing/2014/main" id="{4CB3EDB4-182B-4BEF-8FFC-BD53EFEB9307}"/>
              </a:ext>
            </a:extLst>
          </p:cNvPr>
          <p:cNvSpPr>
            <a:spLocks xmlns:a="http://schemas.openxmlformats.org/drawingml/2006/main" noGrp="1"/>
          </p:cNvSpPr>
          <p:nvPr/>
        </p:nvSpPr>
        <p:spPr>
          <a:xfrm xmlns:a="http://schemas.openxmlformats.org/drawingml/2006/main">
            <a:off x="628650" y="486727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37C87"/>
                </a:solidFill>
                <a:latin typeface="Helvetica Neue"/>
                <a:ea typeface="Helvetica Neue"/>
                <a:cs typeface="Helvetica Neue"/>
              </a:defRPr>
            </a:pPr>
            <a:r>
              <a:rPr sz="2025" b="1">
                <a:solidFill>
                  <a:srgbClr val="137C87"/>
                </a:solidFill>
                <a:latin typeface="Helvetica Neue"/>
                <a:ea typeface="Helvetica Neue"/>
                <a:cs typeface="Helvetica Neue"/>
              </a:rPr>
              <a:t>Protected sources</a:t>
            </a:r>
          </a:p>
        </p:txBody>
      </p:sp>
      <p:sp>
        <p:nvSpPr>
          <p:cNvPr id="10" name="">
            <a:extLst xmlns:a="http://schemas.openxmlformats.org/drawingml/2006/main">
              <a:ext uri="{FF2B5EF4-FFF2-40B4-BE49-F238E27FC236}">
                <a16:creationId xmlns:a16="http://schemas.microsoft.com/office/drawing/2014/main" id="{41CBC00C-1AE3-4C94-994E-EE2AF4A640EB}"/>
              </a:ext>
            </a:extLst>
          </p:cNvPr>
          <p:cNvSpPr>
            <a:spLocks xmlns:a="http://schemas.openxmlformats.org/drawingml/2006/main" noGrp="1"/>
          </p:cNvSpPr>
          <p:nvPr/>
        </p:nvSpPr>
        <p:spPr>
          <a:xfrm xmlns:a="http://schemas.openxmlformats.org/drawingml/2006/main">
            <a:off x="3381375" y="4867275"/>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Legacy trees, external target geometry, the job payload and detector resources remain protected references.</a:t>
            </a:r>
          </a:p>
        </p:txBody>
      </p:sp>
    </p:spTree>
    <p:extLst>
      <p:ext uri="{BB962C8B-B14F-4D97-AF65-F5344CB8AC3E}">
        <p14:creationId xmlns:p14="http://schemas.microsoft.com/office/powerpoint/2010/main" val="534960812"/>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94DE91-A686-43D9-BBF1-15E74D4D0AF0}"/>
              </a:ext>
            </a:extLst>
          </p:cNvPr>
          <p:cNvSpPr>
            <a:spLocks xmlns:a="http://schemas.openxmlformats.org/drawingml/2006/main" noGrp="1"/>
          </p:cNvSpPr>
          <p:nvPr/>
        </p:nvSpPr>
        <p:spPr>
          <a:xfrm xmlns:a="http://schemas.openxmlformats.org/drawingml/2006/main">
            <a:off x="609600" y="4191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E40"/>
                </a:solidFill>
                <a:latin typeface="Helvetica Neue"/>
                <a:ea typeface="Helvetica Neue"/>
                <a:cs typeface="Helvetica Neue"/>
              </a:defRPr>
            </a:pPr>
            <a:r>
              <a:rPr sz="3300" b="1">
                <a:solidFill>
                  <a:srgbClr val="182E40"/>
                </a:solidFill>
                <a:latin typeface="Helvetica Neue"/>
                <a:ea typeface="Helvetica Neue"/>
                <a:cs typeface="Helvetica Neue"/>
              </a:rPr>
              <a:t>Validation coverage and remaining work</a:t>
            </a:r>
          </a:p>
        </p:txBody>
      </p:sp>
      <p:sp>
        <p:nvSpPr>
          <p:cNvPr id="2" name="">
            <a:extLst xmlns:a="http://schemas.openxmlformats.org/drawingml/2006/main">
              <a:ext uri="{FF2B5EF4-FFF2-40B4-BE49-F238E27FC236}">
                <a16:creationId xmlns:a16="http://schemas.microsoft.com/office/drawing/2014/main" id="{55F6CBB3-F768-4BEA-9C90-4CBFD59FEEA6}"/>
              </a:ext>
            </a:extLst>
          </p:cNvPr>
          <p:cNvSpPr>
            <a:spLocks xmlns:a="http://schemas.openxmlformats.org/drawingml/2006/main" noGrp="1"/>
          </p:cNvSpPr>
          <p:nvPr/>
        </p:nvSpPr>
        <p:spPr>
          <a:xfrm xmlns:a="http://schemas.openxmlformats.org/drawingml/2006/main">
            <a:off x="10991850" y="62484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574"/>
                </a:solidFill>
                <a:latin typeface="Helvetica Neue"/>
                <a:ea typeface="Helvetica Neue"/>
                <a:cs typeface="Helvetica Neue"/>
              </a:defRPr>
            </a:pPr>
            <a:r>
              <a:rPr sz="1350" b="0">
                <a:solidFill>
                  <a:srgbClr val="526574"/>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69741C5E-52CF-48AA-8374-BBE727872305}"/>
              </a:ext>
            </a:extLst>
          </p:cNvPr>
          <p:cNvSpPr>
            <a:spLocks xmlns:a="http://schemas.openxmlformats.org/drawingml/2006/main" noGrp="1"/>
          </p:cNvSpPr>
          <p:nvPr/>
        </p:nvSpPr>
        <p:spPr>
          <a:xfrm xmlns:a="http://schemas.openxmlformats.org/drawingml/2006/main">
            <a:off x="628650" y="16287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37C87"/>
                </a:solidFill>
                <a:latin typeface="Helvetica Neue"/>
                <a:ea typeface="Helvetica Neue"/>
                <a:cs typeface="Helvetica Neue"/>
              </a:defRPr>
            </a:pPr>
            <a:r>
              <a:rPr sz="2175" b="1">
                <a:solidFill>
                  <a:srgbClr val="137C87"/>
                </a:solidFill>
                <a:latin typeface="Helvetica Neue"/>
                <a:ea typeface="Helvetica Neue"/>
                <a:cs typeface="Helvetica Neue"/>
              </a:rPr>
              <a:t>Implemented checks</a:t>
            </a:r>
          </a:p>
        </p:txBody>
      </p:sp>
      <p:sp>
        <p:nvSpPr>
          <p:cNvPr id="4" name="">
            <a:extLst xmlns:a="http://schemas.openxmlformats.org/drawingml/2006/main">
              <a:ext uri="{FF2B5EF4-FFF2-40B4-BE49-F238E27FC236}">
                <a16:creationId xmlns:a16="http://schemas.microsoft.com/office/drawing/2014/main" id="{3E254005-D797-40EA-8E84-10492EA403B5}"/>
              </a:ext>
            </a:extLst>
          </p:cNvPr>
          <p:cNvSpPr>
            <a:spLocks xmlns:a="http://schemas.openxmlformats.org/drawingml/2006/main" noGrp="1"/>
          </p:cNvSpPr>
          <p:nvPr/>
        </p:nvSpPr>
        <p:spPr>
          <a:xfrm xmlns:a="http://schemas.openxmlformats.org/drawingml/2006/main">
            <a:off x="628650" y="2286000"/>
            <a:ext cx="5143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LUND records and legacy comparisons</a:t>
            </a:r>
          </a:p>
          <a:p xmlns:a="http://schemas.openxmlformats.org/drawingml/2006/main">
            <a:r>
              <a:t/>
            </a:r>
          </a:p>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Momentum distribution regressions</a:t>
            </a:r>
          </a:p>
          <a:p xmlns:a="http://schemas.openxmlformats.org/drawingml/2006/main">
            <a:r>
              <a:t/>
            </a:r>
          </a:p>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Monitoring, input failures and partial files</a:t>
            </a:r>
          </a:p>
          <a:p xmlns:a="http://schemas.openxmlformats.org/drawingml/2006/main">
            <a:r>
              <a:t/>
            </a:r>
          </a:p>
          <a:p xmlns:a="http://schemas.openxmlformats.org/drawingml/2006/main">
            <a:pPr>
              <a:buNone/>
              <a:defRPr sz="2100" b="0">
                <a:solidFill>
                  <a:srgbClr val="182E40"/>
                </a:solidFill>
                <a:latin typeface="Helvetica Neue"/>
                <a:ea typeface="Helvetica Neue"/>
                <a:cs typeface="Helvetica Neue"/>
              </a:defRPr>
            </a:pPr>
            <a:r>
              <a:rPr sz="2100" b="0">
                <a:solidFill>
                  <a:srgbClr val="182E40"/>
                </a:solidFill>
                <a:latin typeface="Helvetica Neue"/>
                <a:ea typeface="Helvetica Neue"/>
                <a:cs typeface="Helvetica Neue"/>
              </a:rPr>
              <a:t>Submission arguments and launcher behavior</a:t>
            </a:r>
          </a:p>
        </p:txBody>
      </p:sp>
      <p:sp>
        <p:nvSpPr>
          <p:cNvPr id="5" name="">
            <a:extLst xmlns:a="http://schemas.openxmlformats.org/drawingml/2006/main">
              <a:ext uri="{FF2B5EF4-FFF2-40B4-BE49-F238E27FC236}">
                <a16:creationId xmlns:a16="http://schemas.microsoft.com/office/drawing/2014/main" id="{426C8357-E41B-44F4-94EA-C760DD73C5E4}"/>
              </a:ext>
            </a:extLst>
          </p:cNvPr>
          <p:cNvSpPr>
            <a:spLocks xmlns:a="http://schemas.openxmlformats.org/drawingml/2006/main" noGrp="1"/>
          </p:cNvSpPr>
          <p:nvPr/>
        </p:nvSpPr>
        <p:spPr>
          <a:xfrm xmlns:a="http://schemas.openxmlformats.org/drawingml/2006/main">
            <a:off x="6400800" y="16287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37C87"/>
                </a:solidFill>
                <a:latin typeface="Helvetica Neue"/>
                <a:ea typeface="Helvetica Neue"/>
                <a:cs typeface="Helvetica Neue"/>
              </a:defRPr>
            </a:pPr>
            <a:r>
              <a:rPr sz="2175" b="1">
                <a:solidFill>
                  <a:srgbClr val="137C87"/>
                </a:solidFill>
                <a:latin typeface="Helvetica Neue"/>
                <a:ea typeface="Helvetica Neue"/>
                <a:cs typeface="Helvetica Neue"/>
              </a:rPr>
              <a:t>Limits that remain</a:t>
            </a:r>
          </a:p>
        </p:txBody>
      </p:sp>
      <p:sp>
        <p:nvSpPr>
          <p:cNvPr id="6" name="">
            <a:extLst xmlns:a="http://schemas.openxmlformats.org/drawingml/2006/main">
              <a:ext uri="{FF2B5EF4-FFF2-40B4-BE49-F238E27FC236}">
                <a16:creationId xmlns:a16="http://schemas.microsoft.com/office/drawing/2014/main" id="{20935A0E-4309-4127-B782-53C334BA21D6}"/>
              </a:ext>
            </a:extLst>
          </p:cNvPr>
          <p:cNvSpPr>
            <a:spLocks xmlns:a="http://schemas.openxmlformats.org/drawingml/2006/main" noGrp="1"/>
          </p:cNvSpPr>
          <p:nvPr/>
        </p:nvSpPr>
        <p:spPr>
          <a:xfrm xmlns:a="http://schemas.openxmlformats.org/drawingml/2006/main">
            <a:off x="6400800" y="2286000"/>
            <a:ext cx="49530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E40"/>
                </a:solidFill>
                <a:latin typeface="Helvetica Neue"/>
                <a:ea typeface="Helvetica Neue"/>
                <a:cs typeface="Helvetica Neue"/>
              </a:defRPr>
            </a:pPr>
            <a:r>
              <a:rPr sz="2250" b="0">
                <a:solidFill>
                  <a:srgbClr val="182E40"/>
                </a:solidFill>
                <a:latin typeface="Helvetica Neue"/>
                <a:ea typeface="Helvetica Neue"/>
                <a:cs typeface="Helvetica Neue"/>
              </a:rPr>
              <a:t>FD pion and all CD modes still need full distribution and production validation.</a:t>
            </a:r>
          </a:p>
          <a:p xmlns:a="http://schemas.openxmlformats.org/drawingml/2006/main">
            <a:r>
              <a:t/>
            </a:r>
          </a:p>
          <a:p xmlns:a="http://schemas.openxmlformats.org/drawingml/2006/main">
            <a:pPr>
              <a:buNone/>
              <a:defRPr sz="2250" b="0">
                <a:solidFill>
                  <a:srgbClr val="182E40"/>
                </a:solidFill>
                <a:latin typeface="Helvetica Neue"/>
                <a:ea typeface="Helvetica Neue"/>
                <a:cs typeface="Helvetica Neue"/>
              </a:defRPr>
            </a:pPr>
            <a:r>
              <a:rPr sz="2250" b="0">
                <a:solidFill>
                  <a:srgbClr val="182E40"/>
                </a:solidFill>
                <a:latin typeface="Helvetica Neue"/>
                <a:ea typeface="Helvetica Neue"/>
                <a:cs typeface="Helvetica Neue"/>
              </a:rPr>
              <a:t>Detector equivalence requires matched GEMC and reconstruction runs on ifarm.</a:t>
            </a:r>
          </a:p>
        </p:txBody>
      </p:sp>
      <p:sp>
        <p:nvSpPr>
          <p:cNvPr id="7" name="">
            <a:extLst xmlns:a="http://schemas.openxmlformats.org/drawingml/2006/main">
              <a:ext uri="{FF2B5EF4-FFF2-40B4-BE49-F238E27FC236}">
                <a16:creationId xmlns:a16="http://schemas.microsoft.com/office/drawing/2014/main" id="{C8BC0B1C-B5A8-4928-A28B-357434E0A487}"/>
              </a:ext>
            </a:extLst>
          </p:cNvPr>
          <p:cNvSpPr>
            <a:spLocks xmlns:a="http://schemas.openxmlformats.org/drawingml/2006/main" noGrp="1"/>
          </p:cNvSpPr>
          <p:nvPr/>
        </p:nvSpPr>
        <p:spPr>
          <a:xfrm xmlns:a="http://schemas.openxmlformats.org/drawingml/2006/main">
            <a:off x="6400800" y="546735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574"/>
                </a:solidFill>
                <a:latin typeface="Helvetica Neue"/>
                <a:ea typeface="Helvetica Neue"/>
                <a:cs typeface="Helvetica Neue"/>
              </a:defRPr>
            </a:pPr>
            <a:r>
              <a:rPr sz="1650" b="0">
                <a:solidFill>
                  <a:srgbClr val="526574"/>
                </a:solidFill>
                <a:latin typeface="Helvetica Neue"/>
                <a:ea typeface="Helvetica Neue"/>
                <a:cs typeface="Helvetica Neue"/>
              </a:rPr>
              <a:t>Implemented test coverage does not imply identical HIPO output or final acceptance maps.</a:t>
            </a:r>
          </a:p>
        </p:txBody>
      </p:sp>
    </p:spTree>
    <p:extLst>
      <p:ext uri="{BB962C8B-B14F-4D97-AF65-F5344CB8AC3E}">
        <p14:creationId xmlns:p14="http://schemas.microsoft.com/office/powerpoint/2010/main" val="1570188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2026-09-21T19:24:42.2120000Z</dcterms:created>
  <dcterms:modified xsi:type="dcterms:W3CDTF">2026-09-21T19:24:42.2120000Z</dcterms:modified>
</coreProperties>
</file>