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86d9e05f9ed48df" /><Relationship Type="http://schemas.openxmlformats.org/officeDocument/2006/relationships/extended-properties" Target="/docProps/app.xml" Id="Rebc1611980a54aef" /><Relationship Type="http://schemas.openxmlformats.org/officeDocument/2006/relationships/officeDocument" Target="/ppt/presentation.xml" Id="Re405f3bb6fa44a7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84363b35a244058"/>
  </p:sldMasterIdLst>
  <p:notesMasterIdLst>
    <p:notesMasterId xmlns:r="http://schemas.openxmlformats.org/officeDocument/2006/relationships" r:id="R8061fe9179c9411d"/>
  </p:notesMasterIdLst>
  <p:sldIdLst>
    <p:sldId xmlns:r="http://schemas.openxmlformats.org/officeDocument/2006/relationships" id="256" r:id="Rd773fb0ef52248e7"/>
    <p:sldId xmlns:r="http://schemas.openxmlformats.org/officeDocument/2006/relationships" id="257" r:id="Re56ce6689f56423b"/>
    <p:sldId xmlns:r="http://schemas.openxmlformats.org/officeDocument/2006/relationships" id="258" r:id="Rb720844ecf084589"/>
    <p:sldId xmlns:r="http://schemas.openxmlformats.org/officeDocument/2006/relationships" id="259" r:id="R7ee2152e67ba476a"/>
    <p:sldId xmlns:r="http://schemas.openxmlformats.org/officeDocument/2006/relationships" id="260" r:id="Rf265adb1c6ad4ff5"/>
    <p:sldId xmlns:r="http://schemas.openxmlformats.org/officeDocument/2006/relationships" id="261" r:id="Rc5dc7b504b0a41c6"/>
    <p:sldId xmlns:r="http://schemas.openxmlformats.org/officeDocument/2006/relationships" id="262" r:id="Rb8190f6fdd6f4a42"/>
    <p:sldId xmlns:r="http://schemas.openxmlformats.org/officeDocument/2006/relationships" id="263" r:id="R1490890078814ba6"/>
    <p:sldId xmlns:r="http://schemas.openxmlformats.org/officeDocument/2006/relationships" id="264" r:id="R376c54f0a66648c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05e3c87919b4c03" /><Relationship Type="http://schemas.openxmlformats.org/officeDocument/2006/relationships/slideMaster" Target="/ppt/slideMasters/slideMaster1.xml" Id="R984363b35a244058" /><Relationship Type="http://schemas.openxmlformats.org/officeDocument/2006/relationships/notesMaster" Target="/ppt/notesMasters/notesMaster1.xml" Id="R8061fe9179c9411d" /><Relationship Type="http://schemas.openxmlformats.org/officeDocument/2006/relationships/presProps" Target="/ppt/presProps.xml" Id="R3e5bb2ec49974586" /><Relationship Type="http://schemas.openxmlformats.org/officeDocument/2006/relationships/tableStyles" Target="/ppt/tableStyles.xml" Id="R50251e4b3f2948b9" /><Relationship Type="http://schemas.openxmlformats.org/officeDocument/2006/relationships/slide" Target="/ppt/slides/slide1.xml" Id="Rd773fb0ef52248e7" /><Relationship Type="http://schemas.openxmlformats.org/officeDocument/2006/relationships/slide" Target="/ppt/slides/slide2.xml" Id="Re56ce6689f56423b" /><Relationship Type="http://schemas.openxmlformats.org/officeDocument/2006/relationships/slide" Target="/ppt/slides/slide3.xml" Id="Rb720844ecf084589" /><Relationship Type="http://schemas.openxmlformats.org/officeDocument/2006/relationships/slide" Target="/ppt/slides/slide4.xml" Id="R7ee2152e67ba476a" /><Relationship Type="http://schemas.openxmlformats.org/officeDocument/2006/relationships/slide" Target="/ppt/slides/slide5.xml" Id="Rf265adb1c6ad4ff5" /><Relationship Type="http://schemas.openxmlformats.org/officeDocument/2006/relationships/slide" Target="/ppt/slides/slide6.xml" Id="Rc5dc7b504b0a41c6" /><Relationship Type="http://schemas.openxmlformats.org/officeDocument/2006/relationships/slide" Target="/ppt/slides/slide7.xml" Id="Rb8190f6fdd6f4a42" /><Relationship Type="http://schemas.openxmlformats.org/officeDocument/2006/relationships/slide" Target="/ppt/slides/slide8.xml" Id="R1490890078814ba6" /><Relationship Type="http://schemas.openxmlformats.org/officeDocument/2006/relationships/slide" Target="/ppt/slides/slide9.xml" Id="R376c54f0a66648c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0ab38e8b88046a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53604b810294b57" /><Relationship Type="http://schemas.openxmlformats.org/officeDocument/2006/relationships/notesMaster" Target="/ppt/notesMasters/notesMaster1.xml" Id="R245a611fed554d0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0deac3046fb4b64" /><Relationship Type="http://schemas.openxmlformats.org/officeDocument/2006/relationships/notesMaster" Target="/ppt/notesMasters/notesMaster1.xml" Id="R7bd8f24d0d234dc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6e6c66e2e54467a" /><Relationship Type="http://schemas.openxmlformats.org/officeDocument/2006/relationships/notesMaster" Target="/ppt/notesMasters/notesMaster1.xml" Id="R7b2e4ae80fef4c0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b9d76d643d14a6c" /><Relationship Type="http://schemas.openxmlformats.org/officeDocument/2006/relationships/notesMaster" Target="/ppt/notesMasters/notesMaster1.xml" Id="R4e1b7f002f5d408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1a79a39c60748b1" /><Relationship Type="http://schemas.openxmlformats.org/officeDocument/2006/relationships/notesMaster" Target="/ppt/notesMasters/notesMaster1.xml" Id="R3cdd78afd14e431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2a2913475684b7e" /><Relationship Type="http://schemas.openxmlformats.org/officeDocument/2006/relationships/notesMaster" Target="/ppt/notesMasters/notesMaster1.xml" Id="R687e8557174249d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a0886602cbb4282" /><Relationship Type="http://schemas.openxmlformats.org/officeDocument/2006/relationships/notesMaster" Target="/ppt/notesMasters/notesMaster1.xml" Id="R737453eb1dd54ac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f1664e9baf54b11" /><Relationship Type="http://schemas.openxmlformats.org/officeDocument/2006/relationships/notesMaster" Target="/ppt/notesMasters/notesMaster1.xml" Id="R3ce202cc8fbb49d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4ca53adde564fc9" /><Relationship Type="http://schemas.openxmlformats.org/officeDocument/2006/relationships/notesMaster" Target="/ppt/notesMasters/notesMaster1.xml" Id="R99538c1c34f04b4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README.md; AGENTS.md; docs/architecture.md; docs/legacy-workflows.md. The uniform and GEMC archives are independent historical sources, not successive versions. Current repository HEAD 7584a68; uniform reference 1ed077e5caff7b7dfdbe42ebf172fadb3531a79b.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Repository sources (relative to CLAS12-sample-generator):</a:t>
            </a:r>
          </a:p>
          <a:p xmlns:a="http://schemas.openxmlformats.org/drawingml/2006/main">
            <a:r>
              <a:t>README.md</a:t>
            </a:r>
          </a:p>
          <a:p xmlns:a="http://schemas.openxmlformats.org/drawingml/2006/main">
            <a:r>
              <a:t>src/launcher/workflow.py</a:t>
            </a:r>
          </a:p>
          <a:p xmlns:a="http://schemas.openxmlformats.org/drawingml/2006/main">
            <a:r>
              <a:t>run.csh</a:t>
            </a:r>
          </a:p>
          <a:p xmlns:a="http://schemas.openxmlformats.org/drawingml/2006/main">
            <a:r>
              <a:t>src/slurm-submission/setup_and_submit.csh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Snapshot: working checkout at 7584a68, 21 September 2026. Uniform legacy submodule: 1ed077e5caff7b7dfdbe42ebf172fadb3531a79b.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Repository sources (relative to CLAS12-sample-generator):</a:t>
            </a:r>
          </a:p>
          <a:p xmlns:a="http://schemas.openxmlformats.org/drawingml/2006/main">
            <a:r>
              <a:t>src/lund-generation/core/config/RunConfig.cpp</a:t>
            </a:r>
          </a:p>
          <a:p xmlns:a="http://schemas.openxmlformats.org/drawingml/2006/main">
            <a:r>
              <a:t>src/lund-generation/core/lund/LundWriter.cpp</a:t>
            </a:r>
          </a:p>
          <a:p xmlns:a="http://schemas.openxmlformats.org/drawingml/2006/main">
            <a:r>
              <a:t>src/lund-generation/core/lund/Event.h</a:t>
            </a:r>
          </a:p>
          <a:p xmlns:a="http://schemas.openxmlformats.org/drawingml/2006/main">
            <a:r>
              <a:t>src/lund-generation/clas12-generator-to-lund/PhysicalConverter.cpp</a:t>
            </a:r>
          </a:p>
          <a:p xmlns:a="http://schemas.openxmlformats.org/drawingml/2006/main">
            <a:r>
              <a:t>legacy/Uniform-sample-generator/Uniform_sample_generator.C</a:t>
            </a:r>
          </a:p>
          <a:p xmlns:a="http://schemas.openxmlformats.org/drawingml/2006/main">
            <a:r>
              <a:t>legacy/GEMC-samples/GENIE_to_LUND_converter/GENIE_to_LUND_converter.C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Snapshot: working checkout at 7584a68, 21 September 2026. Uniform legacy submodule: 1ed077e5caff7b7dfdbe42ebf172fadb3531a79b.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pinned upstream samples electron momentum uniformly from zero to beam and ep/en hadron momentum uniformly from 0.3 GeV/c to beam. Current mixed modes alternate uniform-p and uniform-1/p draws. FD pion and all CD modes have structural integration coverage, not full production validation.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Repository sources (relative to CLAS12-sample-generator):</a:t>
            </a:r>
          </a:p>
          <a:p xmlns:a="http://schemas.openxmlformats.org/drawingml/2006/main">
            <a:r>
              <a:t>src/lund-generation/clas12-uniform/UniformGenerator.cpp</a:t>
            </a:r>
          </a:p>
          <a:p xmlns:a="http://schemas.openxmlformats.org/drawingml/2006/main">
            <a:r>
              <a:t>src/lund-generation/clas12-uniform/UniformConfig.h</a:t>
            </a:r>
          </a:p>
          <a:p xmlns:a="http://schemas.openxmlformats.org/drawingml/2006/main">
            <a:r>
              <a:t>legacy/Uniform-sample-generator/Generate_uniform_event.C</a:t>
            </a:r>
          </a:p>
          <a:p xmlns:a="http://schemas.openxmlformats.org/drawingml/2006/main">
            <a:r>
              <a:t>config/samples/uniform-1e-2070MeV.conf</a:t>
            </a:r>
          </a:p>
          <a:p xmlns:a="http://schemas.openxmlformats.org/drawingml/2006/main">
            <a:r>
              <a:t>docs/uniform-samples.md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Snapshot: working checkout at 7584a68, 21 September 2026. Uniform legacy submodule: 1ed077e5caff7b7dfdbe42ebf172fadb3531a79b.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converter copies supported input momenta and calculates energies on the maintained mass shell. It preserves QE/MEC/RES/DIS process codes, resid placement and stable particle ordering. The seven-entry regression fixture has six retained events: legacy writes one, current writes six. This is a fixture-specific correction, not a throughput metric.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Repository sources (relative to CLAS12-sample-generator):</a:t>
            </a:r>
          </a:p>
          <a:p xmlns:a="http://schemas.openxmlformats.org/drawingml/2006/main">
            <a:r>
              <a:t>src/lund-generation/clas12-generator-to-lund/genie/GenieConverter.cpp</a:t>
            </a:r>
          </a:p>
          <a:p xmlns:a="http://schemas.openxmlformats.org/drawingml/2006/main">
            <a:r>
              <a:t>legacy/GEMC-samples/GENIE_to_LUND_converter/GENIE_to_LUND_converter.C</a:t>
            </a:r>
          </a:p>
          <a:p xmlns:a="http://schemas.openxmlformats.org/drawingml/2006/main">
            <a:r>
              <a:t>src/lund-generation/tests/legacy_parity.py</a:t>
            </a:r>
          </a:p>
          <a:p xmlns:a="http://schemas.openxmlformats.org/drawingml/2006/main">
            <a:r>
              <a:t>src/lund-generation/tests/integration.py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Snapshot: working checkout at 7584a68, 21 September 2026. Uniform legacy submodule: 1ed077e5caff7b7dfdbe42ebf172fadb3531a79b.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Geometry and nuclear A/Z remain independently overridable. The pinned uniform snapshot selects 1-foil-small and A=Z=1, whereas maintained production Ar profiles resolve Ar geometry and A=40/Z=18. The tester now samples the selected geometry instead of the archived fixed point. Current constants.h is authoritative: pi_zero is 0.13498 GeV/c²; older validation prose still mentions the archived value. Seed zero is automatic and cannot by itself replay a run.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Repository sources (relative to CLAS12-sample-generator):</a:t>
            </a:r>
          </a:p>
          <a:p xmlns:a="http://schemas.openxmlformats.org/drawingml/2006/main">
            <a:r>
              <a:t>src/lund-generation/core/config/RgmTarget.cpp</a:t>
            </a:r>
          </a:p>
          <a:p xmlns:a="http://schemas.openxmlformats.org/drawingml/2006/main">
            <a:r>
              <a:t>src/lund-generation/core/lund/LundWriter.cpp</a:t>
            </a:r>
          </a:p>
          <a:p xmlns:a="http://schemas.openxmlformats.org/drawingml/2006/main">
            <a:r>
              <a:t>src/lund-generation/core/support/constants.h</a:t>
            </a:r>
          </a:p>
          <a:p xmlns:a="http://schemas.openxmlformats.org/drawingml/2006/main">
            <a:r>
              <a:t>src/lund-generation/core/geometry/TargetGeometry.cpp</a:t>
            </a:r>
          </a:p>
          <a:p xmlns:a="http://schemas.openxmlformats.org/drawingml/2006/main">
            <a:r>
              <a:t>src/lund-generation/clas12-uniform/UniformMonitoring.cpp</a:t>
            </a:r>
          </a:p>
          <a:p xmlns:a="http://schemas.openxmlformats.org/drawingml/2006/main">
            <a:r>
              <a:t>docs/data-contracts.md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Snapshot: working checkout at 7584a68, 21 September 2026. Uniform legacy submodule: 1ed077e5caff7b7dfdbe42ebf172fadb3531a79b.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Preview is the submission coordinator default. The sourced run.csh launcher still performs the documented disposable-checkout synchronization before dispatch. Execution replaces selected simulation output directories and preserves LUND inputs. The protected payload owns detector commands. GEMC falls back to 5.14 and the coordinator loads/verifies the selected module environment.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Repository sources (relative to CLAS12-sample-generator):</a:t>
            </a:r>
          </a:p>
          <a:p xmlns:a="http://schemas.openxmlformats.org/drawingml/2006/main">
            <a:r>
              <a:t>src/slurm-submission/submit.py</a:t>
            </a:r>
          </a:p>
          <a:p xmlns:a="http://schemas.openxmlformats.org/drawingml/2006/main">
            <a:r>
              <a:t>src/slurm-submission/resolve_inputs.py</a:t>
            </a:r>
          </a:p>
          <a:p xmlns:a="http://schemas.openxmlformats.org/drawingml/2006/main">
            <a:r>
              <a:t>src/slurm-submission/external/submit_GEMC_sample.sh</a:t>
            </a:r>
          </a:p>
          <a:p xmlns:a="http://schemas.openxmlformats.org/drawingml/2006/main">
            <a:r>
              <a:t>legacy/GEMC-samples/scripts/setup_and_submission_scripts/uniform_setup_and_submit.csh</a:t>
            </a:r>
          </a:p>
          <a:p xmlns:a="http://schemas.openxmlformats.org/drawingml/2006/main">
            <a:r>
              <a:t>legacy/GEMC-samples/scripts/setup_and_submission_scripts/genie_job_submission_script.csh</a:t>
            </a:r>
          </a:p>
          <a:p xmlns:a="http://schemas.openxmlformats.org/drawingml/2006/main">
            <a:r>
              <a:t>run.csh</a:t>
            </a:r>
          </a:p>
          <a:p xmlns:a="http://schemas.openxmlformats.org/drawingml/2006/main">
            <a:r>
              <a:t>docs/ssh-workflow.md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Snapshot: working checkout at 7584a68, 21 September 2026. Uniform legacy submodule: 1ed077e5caff7b7dfdbe42ebf172fadb3531a79b.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Repository sources (relative to CLAS12-sample-generator):</a:t>
            </a:r>
          </a:p>
          <a:p xmlns:a="http://schemas.openxmlformats.org/drawingml/2006/main">
            <a:r>
              <a:t>AGENTS.md</a:t>
            </a:r>
          </a:p>
          <a:p xmlns:a="http://schemas.openxmlformats.org/drawingml/2006/main">
            <a:r>
              <a:t>README.md</a:t>
            </a:r>
          </a:p>
          <a:p xmlns:a="http://schemas.openxmlformats.org/drawingml/2006/main">
            <a:r>
              <a:t>docs/index.md</a:t>
            </a:r>
          </a:p>
          <a:p xmlns:a="http://schemas.openxmlformats.org/drawingml/2006/main">
            <a:r>
              <a:t>docs/source-documentation.md</a:t>
            </a:r>
          </a:p>
          <a:p xmlns:a="http://schemas.openxmlformats.org/drawingml/2006/main">
            <a:r>
              <a:t>CMakePresets.json</a:t>
            </a:r>
          </a:p>
          <a:p xmlns:a="http://schemas.openxmlformats.org/drawingml/2006/main">
            <a:r>
              <a:t>config/run.json</a:t>
            </a:r>
          </a:p>
          <a:p xmlns:a="http://schemas.openxmlformats.org/drawingml/2006/main">
            <a:r>
              <a:t>docs/configuration.md</a:t>
            </a:r>
          </a:p>
          <a:p xmlns:a="http://schemas.openxmlformats.org/drawingml/2006/main">
            <a:r>
              <a:t>docs/architecture.md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Snapshot: working checkout at 7584a68, 21 September 2026. Uniform legacy submodule: 1ed077e5caff7b7dfdbe42ebf172fadb3531a79b.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presentation summarizes inspected test definitions and documented coverage. It does not report a fresh full test run. Nine tests are registered when both workflows and csh/tcsh are enabled. Exact legacy parity requires matched seeds, settings and explicit handling of intentional mass, sampling and tester-vertex differences. Some validation prose predates current constants and profiles; use source and fresh executable results as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Repository sources (relative to CLAS12-sample-generator):</a:t>
            </a:r>
          </a:p>
          <a:p xmlns:a="http://schemas.openxmlformats.org/drawingml/2006/main">
            <a:r>
              <a:t>docs/validation.md</a:t>
            </a:r>
          </a:p>
          <a:p xmlns:a="http://schemas.openxmlformats.org/drawingml/2006/main">
            <a:r>
              <a:t>src/lund-generation/tests/CMakeLists.txt</a:t>
            </a:r>
          </a:p>
          <a:p xmlns:a="http://schemas.openxmlformats.org/drawingml/2006/main">
            <a:r>
              <a:t>src/lund-generation/tests/distributions.py</a:t>
            </a:r>
          </a:p>
          <a:p xmlns:a="http://schemas.openxmlformats.org/drawingml/2006/main">
            <a:r>
              <a:t>src/lund-generation/tests/legacy_parity.py</a:t>
            </a:r>
          </a:p>
          <a:p xmlns:a="http://schemas.openxmlformats.org/drawingml/2006/main">
            <a:r>
              <a:t>src/slurm-submission/tests/submission_parity.py</a:t>
            </a:r>
          </a:p>
          <a:p xmlns:a="http://schemas.openxmlformats.org/drawingml/2006/main">
            <a:r>
              <a:t>src/launcher/tests/launcher.py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Snapshot: working checkout at 7584a68, 21 September 2026. Uniform legacy submodule: 1ed077e5caff7b7dfdbe42ebf172fadb3531a79b.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d0dad208a540e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cd7248e8a1a4376" /><Relationship Type="http://schemas.openxmlformats.org/officeDocument/2006/relationships/slideLayout" Target="/ppt/slideLayouts/slideLayout1.xml" Id="R41654f1ca50e4a2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1654f1ca50e4a2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08de77a3734d42" /><Relationship Type="http://schemas.openxmlformats.org/officeDocument/2006/relationships/notesSlide" Target="/ppt/notesSlides/notesSlide1.xml" Id="Rebc7e4b716f64a9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85c7d027704951" /><Relationship Type="http://schemas.openxmlformats.org/officeDocument/2006/relationships/notesSlide" Target="/ppt/notesSlides/notesSlide2.xml" Id="Rd0d8a346c24d411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667526bf354632" /><Relationship Type="http://schemas.openxmlformats.org/officeDocument/2006/relationships/notesSlide" Target="/ppt/notesSlides/notesSlide3.xml" Id="R760d39a359bc411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67bb8e1c144a90" /><Relationship Type="http://schemas.openxmlformats.org/officeDocument/2006/relationships/notesSlide" Target="/ppt/notesSlides/notesSlide4.xml" Id="Ree01c3d34f67443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ba94983dee427a" /><Relationship Type="http://schemas.openxmlformats.org/officeDocument/2006/relationships/notesSlide" Target="/ppt/notesSlides/notesSlide5.xml" Id="R425d451cefbc44c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012dabb1de4f63" /><Relationship Type="http://schemas.openxmlformats.org/officeDocument/2006/relationships/notesSlide" Target="/ppt/notesSlides/notesSlide6.xml" Id="Re5a1f285c38a47c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f38f3d275d4f08" /><Relationship Type="http://schemas.openxmlformats.org/officeDocument/2006/relationships/notesSlide" Target="/ppt/notesSlides/notesSlide7.xml" Id="Rf01714121726488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c068c683284230" /><Relationship Type="http://schemas.openxmlformats.org/officeDocument/2006/relationships/notesSlide" Target="/ppt/notesSlides/notesSlide8.xml" Id="R9b28d6b0239b4de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68d424e3b044d7" /><Relationship Type="http://schemas.openxmlformats.org/officeDocument/2006/relationships/notesSlide" Target="/ppt/notesSlides/notesSlide9.xml" Id="R42d5c0da42dd490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82E4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05A236-1AB1-4DC6-96CC-E1F9E88DF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04875"/>
            <a:ext cx="10858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5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CLAS12 sample generator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151723-B467-4344-9765-338769A27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95575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83D1C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0">
                <a:solidFill>
                  <a:srgbClr val="83D1CD"/>
                </a:solidFill>
                <a:latin typeface="Helvetica Neue"/>
                <a:ea typeface="Helvetica Neue"/>
                <a:cs typeface="Helvetica Neue"/>
              </a:rPr>
              <a:t>Implemented changes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19803B-AB52-4C7F-81EA-609FD82D9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05250"/>
            <a:ext cx="1047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Create LUND files</a:t>
            </a:r>
          </a:p>
          <a:p xmlns:a="http://schemas.openxmlformats.org/drawingml/2006/main">
            <a:pPr>
              <a:defRPr sz="23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Submit GEMC and reconstruction jobs on ifarm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30E0C5-479A-458F-8F5B-CC2B4BAE7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2455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C4CFD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C4CFD7"/>
                </a:solidFill>
                <a:latin typeface="Helvetica Neue"/>
                <a:ea typeface="Helvetica Neue"/>
                <a:cs typeface="Helvetica Neue"/>
              </a:rPr>
              <a:t>Current implementation compared with both legacy repositories</a:t>
            </a:r>
          </a:p>
        </p:txBody>
      </p:sp>
    </p:spTree>
    <p:extLst>
      <p:ext uri="{BB962C8B-B14F-4D97-AF65-F5344CB8AC3E}">
        <p14:creationId xmlns:p14="http://schemas.microsoft.com/office/powerpoint/2010/main" val="98146724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E517B4-3DC8-4F26-8EB8-FA8B812F4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347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2E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82E40"/>
                </a:solidFill>
                <a:latin typeface="Helvetica Neue"/>
                <a:ea typeface="Helvetica Neue"/>
                <a:cs typeface="Helvetica Neue"/>
              </a:rPr>
              <a:t>Two workflows with explicit entry points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5C60E5-EDD8-4E06-81A3-0F818E99E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24840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41406F-978C-4143-BA83-4F2EC004C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09725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37C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37C87"/>
                </a:solidFill>
                <a:latin typeface="Helvetica Neue"/>
                <a:ea typeface="Helvetica Neue"/>
                <a:cs typeface="Helvetica Neue"/>
              </a:rPr>
              <a:t>01  Create LUND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1EAC12-BB09-4154-B8EB-A3BDE7818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52650"/>
            <a:ext cx="1095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E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82E40"/>
                </a:solidFill>
                <a:latin typeface="Helvetica Neue"/>
                <a:ea typeface="Helvetica Neue"/>
                <a:cs typeface="Helvetica Neue"/>
              </a:rPr>
              <a:t>run.csh --workflow create-lund --source uniform / physical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346BE8-AD26-4917-A475-4587FD50C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14625"/>
            <a:ext cx="10858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E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82E40"/>
                </a:solidFill>
                <a:latin typeface="Helvetica Neue"/>
                <a:ea typeface="Helvetica Neue"/>
                <a:cs typeface="Helvetica Neue"/>
              </a:rPr>
              <a:t>Python build driver  /  selected LUND executable  /  completed LUND files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4CCADE-5A68-4063-B4B2-A3AC80BB5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90950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37C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37C87"/>
                </a:solidFill>
                <a:latin typeface="Helvetica Neue"/>
                <a:ea typeface="Helvetica Neue"/>
                <a:cs typeface="Helvetica Neue"/>
              </a:rPr>
              <a:t>02  Submit simulation on ifarm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DA894E-7D14-401E-9159-355F7C517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33875"/>
            <a:ext cx="1095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E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82E40"/>
                </a:solidFill>
                <a:latin typeface="Helvetica Neue"/>
                <a:ea typeface="Helvetica Neue"/>
                <a:cs typeface="Helvetica Neue"/>
              </a:rPr>
              <a:t>run.csh --workflow submit  /  setup_and_submit.csh  /  submit.py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118509-1DEB-4A6A-8EF1-BEF85CE50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95850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E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82E40"/>
                </a:solidFill>
                <a:latin typeface="Helvetica Neue"/>
                <a:ea typeface="Helvetica Neue"/>
                <a:cs typeface="Helvetica Neue"/>
              </a:rPr>
              <a:t>sbatch array  /  protected job payload  /  GEMC  /  recon-util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5B4035-6565-4BBE-B8FF-B31486ECC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7215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rPr>
              <a:t>Creation can run locally. Detector execution runs in ifarm jobs. Submission is a separate action.</a:t>
            </a:r>
          </a:p>
        </p:txBody>
      </p:sp>
    </p:spTree>
    <p:extLst>
      <p:ext uri="{BB962C8B-B14F-4D97-AF65-F5344CB8AC3E}">
        <p14:creationId xmlns:p14="http://schemas.microsoft.com/office/powerpoint/2010/main" val="93705942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ED10EB-8C22-43E2-92D7-273D6BAB4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347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2E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82E40"/>
                </a:solidFill>
                <a:latin typeface="Helvetica Neue"/>
                <a:ea typeface="Helvetica Neue"/>
                <a:cs typeface="Helvetica Neue"/>
              </a:rPr>
              <a:t>Shared LUND infrastructure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2C50B0-83F4-41D2-A217-DF7447698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24840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796174-B91B-417B-A2FE-954B68996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43050"/>
            <a:ext cx="5095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526574"/>
                </a:solidFill>
                <a:latin typeface="Helvetica Neue"/>
                <a:ea typeface="Helvetica Neue"/>
                <a:cs typeface="Helvetica Neue"/>
              </a:rPr>
              <a:t>LEGACY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D47AE4-6AC4-429F-88FD-C4B006E29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543050"/>
            <a:ext cx="514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37C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37C87"/>
                </a:solidFill>
                <a:latin typeface="Helvetica Neue"/>
                <a:ea typeface="Helvetica Neue"/>
                <a:cs typeface="Helvetica Neue"/>
              </a:rPr>
              <a:t>CURRENT IMPLEMENTATION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49DFBF-02C9-4779-B873-744285DAB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71700"/>
            <a:ext cx="5095875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82E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82E40"/>
                </a:solidFill>
                <a:latin typeface="Helvetica Neue"/>
                <a:ea typeface="Helvetica Neue"/>
                <a:cs typeface="Helvetica Neue"/>
              </a:rPr>
              <a:t>Manual channel selection in CodeRun.cpp and separate ROOT conversion macros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EAC46F-E4EF-445A-84B1-C3445A014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90900"/>
            <a:ext cx="5095875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82E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82E40"/>
                </a:solidFill>
                <a:latin typeface="Helvetica Neue"/>
                <a:ea typeface="Helvetica Neue"/>
                <a:cs typeface="Helvetica Neue"/>
              </a:rPr>
              <a:t>Each source manages its own event formatting and output files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A04170-7A27-4A24-83E2-E7D5E20AB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10100"/>
            <a:ext cx="5095875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82E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82E40"/>
                </a:solidFill>
                <a:latin typeface="Helvetica Neue"/>
                <a:ea typeface="Helvetica Neue"/>
                <a:cs typeface="Helvetica Neue"/>
              </a:rPr>
              <a:t>Paths and run choices embedded in scripts and source code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0DAB61-1D99-4F60-B018-84110C13F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71700"/>
            <a:ext cx="5143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82E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82E40"/>
                </a:solidFill>
                <a:latin typeface="Helvetica Neue"/>
                <a:ea typeface="Helvetica Neue"/>
                <a:cs typeface="Helvetica Neue"/>
              </a:rPr>
              <a:t>One create-lund interface with uniform and physical source modes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419432-270B-4B9D-BEF1-7D6796658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90900"/>
            <a:ext cx="5143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82E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82E40"/>
                </a:solidFill>
                <a:latin typeface="Helvetica Neue"/>
                <a:ea typeface="Helvetica Neue"/>
                <a:cs typeface="Helvetica Neue"/>
              </a:rPr>
              <a:t>Shared configuration, target geometry, Event records and LundWriter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673817-2F8B-441A-9C09-5251117AC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610100"/>
            <a:ext cx="5143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82E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82E40"/>
                </a:solidFill>
                <a:latin typeface="Helvetica Neue"/>
                <a:ea typeface="Helvetica Neue"/>
                <a:cs typeface="Helvetica Neue"/>
              </a:rPr>
              <a:t>Validated profiles plus CLI overrides, explicit outputs and completion manifest</a:t>
            </a:r>
          </a:p>
        </p:txBody>
      </p:sp>
    </p:spTree>
    <p:extLst>
      <p:ext uri="{BB962C8B-B14F-4D97-AF65-F5344CB8AC3E}">
        <p14:creationId xmlns:p14="http://schemas.microsoft.com/office/powerpoint/2010/main" val="53490691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D8575D-B75E-44BF-830B-387FED20A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347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2E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82E40"/>
                </a:solidFill>
                <a:latin typeface="Helvetica Neue"/>
                <a:ea typeface="Helvetica Neue"/>
                <a:cs typeface="Helvetica Neue"/>
              </a:rPr>
              <a:t>Uniform sampling: broader acceptance coverage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091C54-E5D0-4016-9DD6-C451D4F50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24840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938289-7ED8-44BF-90BA-DD4E6DB01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19250"/>
            <a:ext cx="257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37C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37C87"/>
                </a:solidFill>
                <a:latin typeface="Helvetica Neue"/>
                <a:ea typeface="Helvetica Neue"/>
                <a:cs typeface="Helvetica Neue"/>
              </a:rPr>
              <a:t>More channels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6D39A0-531D-444A-B065-F8970A139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619250"/>
            <a:ext cx="8048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E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82E40"/>
                </a:solidFill>
                <a:latin typeface="Helvetica Neue"/>
                <a:ea typeface="Helvetica Neue"/>
                <a:cs typeface="Helvetica Neue"/>
              </a:rPr>
              <a:t>1e and electron tester, plus proton, neutron, π+ and π− in FD or CD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D12CF1-1E4F-4BF0-BE57-645E03604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67000"/>
            <a:ext cx="257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37C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37C87"/>
                </a:solidFill>
                <a:latin typeface="Helvetica Neue"/>
                <a:ea typeface="Helvetica Neue"/>
                <a:cs typeface="Helvetica Neue"/>
              </a:rPr>
              <a:t>New momentum laws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C91659-A690-475D-A0C4-015211E41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667000"/>
            <a:ext cx="8048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E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82E40"/>
                </a:solidFill>
                <a:latin typeface="Helvetica Neue"/>
                <a:ea typeface="Helvetica Neue"/>
                <a:cs typeface="Helvetica Neue"/>
              </a:rPr>
              <a:t>1e and charged hadrons use a 50/50 p and 1/p mixture. Neutrons use uniform 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4FF100-9A40-4CFD-81CA-11B855A7C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14750"/>
            <a:ext cx="257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37C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37C87"/>
                </a:solidFill>
                <a:latin typeface="Helvetica Neue"/>
                <a:ea typeface="Helvetica Neue"/>
                <a:cs typeface="Helvetica Neue"/>
              </a:rPr>
              <a:t>Electron coverage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C800B5-810A-478B-A3AF-10D42B806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714750"/>
            <a:ext cx="8048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E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82E40"/>
                </a:solidFill>
                <a:latin typeface="Helvetica Neue"/>
                <a:ea typeface="Helvetica Neue"/>
                <a:cs typeface="Helvetica Neue"/>
              </a:rPr>
              <a:t>1e starts at 0.7 GeV/c. The 2.07052 GeV profile extends θ down to 2°.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37AEA1-ABFE-4524-94BD-CF67EC588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62500"/>
            <a:ext cx="257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37C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37C87"/>
                </a:solidFill>
                <a:latin typeface="Helvetica Neue"/>
                <a:ea typeface="Helvetica Neue"/>
                <a:cs typeface="Helvetica Neue"/>
              </a:rPr>
              <a:t>Preserved correlation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004A4B-04FA-4DE8-A40F-2F14C9002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762500"/>
            <a:ext cx="8048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E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82E40"/>
                </a:solidFill>
                <a:latin typeface="Helvetica Neue"/>
                <a:ea typeface="Helvetica Neue"/>
                <a:cs typeface="Helvetica Neue"/>
              </a:rPr>
              <a:t>Electron–hadron events retain the beam-momentum, 25° trigger electron near the opposite sector.</a:t>
            </a:r>
          </a:p>
        </p:txBody>
      </p:sp>
    </p:spTree>
    <p:extLst>
      <p:ext uri="{BB962C8B-B14F-4D97-AF65-F5344CB8AC3E}">
        <p14:creationId xmlns:p14="http://schemas.microsoft.com/office/powerpoint/2010/main" val="73987738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BE86D3-C0D7-463B-8854-ED90B8D64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347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2E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82E40"/>
                </a:solidFill>
                <a:latin typeface="Helvetica Neue"/>
                <a:ea typeface="Helvetica Neue"/>
                <a:cs typeface="Helvetica Neue"/>
              </a:rPr>
              <a:t>GENIE conversion: preserved truth, safer input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E24AA4-2A27-441E-B629-FBDB104BA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24840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57B902-A1A6-45D7-AAAF-8F2E8019B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43050"/>
            <a:ext cx="5095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526574"/>
                </a:solidFill>
                <a:latin typeface="Helvetica Neue"/>
                <a:ea typeface="Helvetica Neue"/>
                <a:cs typeface="Helvetica Neue"/>
              </a:rPr>
              <a:t>LEGACY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332AFE-4FC1-4B41-956C-15B8F7B25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543050"/>
            <a:ext cx="514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37C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37C87"/>
                </a:solidFill>
                <a:latin typeface="Helvetica Neue"/>
                <a:ea typeface="Helvetica Neue"/>
                <a:cs typeface="Helvetica Neue"/>
              </a:rPr>
              <a:t>CURRENT IMPLEMENTATION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D787A8-3A28-4FD2-9717-9C445124B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71700"/>
            <a:ext cx="5095875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82E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82E40"/>
                </a:solidFill>
                <a:latin typeface="Helvetica Neue"/>
                <a:ea typeface="Helvetica Neue"/>
                <a:cs typeface="Helvetica Neue"/>
              </a:rPr>
              <a:t>Fixed final-state arrays with capacity for 250 particles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C83D9C-A0F4-4D97-8C91-5C6A9885A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90900"/>
            <a:ext cx="5095875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82E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82E40"/>
                </a:solidFill>
                <a:latin typeface="Helvetica Neue"/>
                <a:ea typeface="Helvetica Neue"/>
                <a:cs typeface="Helvetica Neue"/>
              </a:rPr>
              <a:t>Early-stop condition can truncate the final partial file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929B9A-EB18-4AA9-81AD-4126EB241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10100"/>
            <a:ext cx="5095875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82E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82E40"/>
                </a:solidFill>
                <a:latin typeface="Helvetica Neue"/>
                <a:ea typeface="Helvetica Neue"/>
                <a:cs typeface="Helvetica Neue"/>
              </a:rPr>
              <a:t>Conversion macro owns output handling and diagnostic plots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55D36A-0D47-42D2-87B8-5F33B3D47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71700"/>
            <a:ext cx="5143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82E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82E40"/>
                </a:solidFill>
                <a:latin typeface="Helvetica Neue"/>
                <a:ea typeface="Helvetica Neue"/>
                <a:cs typeface="Helvetica Neue"/>
              </a:rPr>
              <a:t>Typed, dynamic ROOT readers with schema and array-length checks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9B16F2-CD22-43EE-BF8A-A645E976D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90900"/>
            <a:ext cx="5143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82E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82E40"/>
                </a:solidFill>
                <a:latin typeface="Helvetica Neue"/>
                <a:ea typeface="Helvetica Neue"/>
                <a:cs typeface="Helvetica Neue"/>
              </a:rPr>
              <a:t>Retains accepted events to capacity or input exhaustion, including the last partial file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09CE89-9080-4F41-AC76-6913786FE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610100"/>
            <a:ext cx="5143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82E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82E40"/>
                </a:solidFill>
                <a:latin typeface="Helvetica Neue"/>
                <a:ea typeface="Helvetica Neue"/>
                <a:cs typeface="Helvetica Neue"/>
              </a:rPr>
              <a:t>Shared writer, separate scanned/rejected/written counts and no physical monitoring plots</a:t>
            </a:r>
          </a:p>
        </p:txBody>
      </p:sp>
    </p:spTree>
    <p:extLst>
      <p:ext uri="{BB962C8B-B14F-4D97-AF65-F5344CB8AC3E}">
        <p14:creationId xmlns:p14="http://schemas.microsoft.com/office/powerpoint/2010/main" val="164755088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50C281-CA54-4469-B2B4-DDE624A1A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347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2E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82E40"/>
                </a:solidFill>
                <a:latin typeface="Helvetica Neue"/>
                <a:ea typeface="Helvetica Neue"/>
                <a:cs typeface="Helvetica Neue"/>
              </a:rPr>
              <a:t>Explicit metadata and reproducibility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FA3426-31DC-445B-9CE5-8CEA94254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24840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B4B571-6C13-4AC9-9E45-FEA8ABEC2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81150"/>
            <a:ext cx="257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37C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37C87"/>
                </a:solidFill>
                <a:latin typeface="Helvetica Neue"/>
                <a:ea typeface="Helvetica Neue"/>
                <a:cs typeface="Helvetica Neue"/>
              </a:rPr>
              <a:t>Target identity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E44A6A-FB57-4B4D-A372-FE0855FF1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581150"/>
            <a:ext cx="8048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E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82E40"/>
                </a:solidFill>
                <a:latin typeface="Helvetica Neue"/>
                <a:ea typeface="Helvetica Neue"/>
                <a:cs typeface="Helvetica Neue"/>
              </a:rPr>
              <a:t>Ar40 profiles resolve geometry Ar and A=40, Z=18. Each event shares one vertex across all particles.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90D38C-CF6A-412D-BE32-95899DD98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47950"/>
            <a:ext cx="257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37C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37C87"/>
                </a:solidFill>
                <a:latin typeface="Helvetica Neue"/>
                <a:ea typeface="Helvetica Neue"/>
                <a:cs typeface="Helvetica Neue"/>
              </a:rPr>
              <a:t>Random streams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73DE18-26DA-447F-BCFD-48F14DA30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647950"/>
            <a:ext cx="8048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E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82E40"/>
                </a:solidFill>
                <a:latin typeface="Helvetica Neue"/>
                <a:ea typeface="Helvetica Neue"/>
                <a:cs typeface="Helvetica Neue"/>
              </a:rPr>
              <a:t>Separate kinematic and vertex seeds. Nonzero seeds support repeatability; seed 0 remains automatic.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58EF85-8897-4F4A-BF3A-6EAD115BF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14750"/>
            <a:ext cx="257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37C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37C87"/>
                </a:solidFill>
                <a:latin typeface="Helvetica Neue"/>
                <a:ea typeface="Helvetica Neue"/>
                <a:cs typeface="Helvetica Neue"/>
              </a:rPr>
              <a:t>Run provenance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80DD4A-74E4-49CD-8DF3-6915FA785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714750"/>
            <a:ext cx="8048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E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82E40"/>
                </a:solidFill>
                <a:latin typeface="Helvetica Neue"/>
                <a:ea typeface="Helvetica Neue"/>
                <a:cs typeface="Helvetica Neue"/>
              </a:rPr>
              <a:t>Manifest records resolved settings, versions and file counts. Physical names use explicit metadata.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06877C-54DD-4323-889F-CA78FBAD0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81550"/>
            <a:ext cx="257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37C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37C87"/>
                </a:solidFill>
                <a:latin typeface="Helvetica Neue"/>
                <a:ea typeface="Helvetica Neue"/>
                <a:cs typeface="Helvetica Neue"/>
              </a:rPr>
              <a:t>Consistent products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130588-F2F7-4DE1-B891-D359EA2AC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781550"/>
            <a:ext cx="8048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E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82E40"/>
                </a:solidFill>
                <a:latin typeface="Helvetica Neue"/>
                <a:ea typeface="Helvetica Neue"/>
                <a:cs typeface="Helvetica Neue"/>
              </a:rPr>
              <a:t>One mass table and one LUND writer. Uniform diagnostics share a single ROOT file with PDF/PNG plots.</a:t>
            </a:r>
          </a:p>
        </p:txBody>
      </p:sp>
    </p:spTree>
    <p:extLst>
      <p:ext uri="{BB962C8B-B14F-4D97-AF65-F5344CB8AC3E}">
        <p14:creationId xmlns:p14="http://schemas.microsoft.com/office/powerpoint/2010/main" val="153995293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0074BB-8BC8-42E3-9BDB-6A4E36CB6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347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2E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82E40"/>
                </a:solidFill>
                <a:latin typeface="Helvetica Neue"/>
                <a:ea typeface="Helvetica Neue"/>
                <a:cs typeface="Helvetica Neue"/>
              </a:rPr>
              <a:t>Unified ifarm submission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EC0B2E-086D-4914-97A8-D14B68AA7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24840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22EE83-BD32-47DA-ACA8-30043CFB8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43050"/>
            <a:ext cx="5095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526574"/>
                </a:solidFill>
                <a:latin typeface="Helvetica Neue"/>
                <a:ea typeface="Helvetica Neue"/>
                <a:cs typeface="Helvetica Neue"/>
              </a:rPr>
              <a:t>LEGACY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21F871-5D6A-4AF2-BD4B-F4FC5E125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543050"/>
            <a:ext cx="514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37C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37C87"/>
                </a:solidFill>
                <a:latin typeface="Helvetica Neue"/>
                <a:ea typeface="Helvetica Neue"/>
                <a:cs typeface="Helvetica Neue"/>
              </a:rPr>
              <a:t>CURRENT IMPLEMENTATION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78FD0B-A41E-4848-B3C7-9D4CC7535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71700"/>
            <a:ext cx="5095875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82E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82E40"/>
                </a:solidFill>
                <a:latin typeface="Helvetica Neue"/>
                <a:ea typeface="Helvetica Neue"/>
                <a:cs typeface="Helvetica Neue"/>
              </a:rPr>
              <a:t>Separate uniform and GENIE setup scripts with manually chosen sample paths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252A62-3DB4-47FD-924B-FFCD74A60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90900"/>
            <a:ext cx="5095875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82E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82E40"/>
                </a:solidFill>
                <a:latin typeface="Helvetica Neue"/>
                <a:ea typeface="Helvetica Neue"/>
                <a:cs typeface="Helvetica Neue"/>
              </a:rPr>
              <a:t>Hard-coded file counts and detector settings distributed across scripts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6ADFB3-899A-49DA-B660-BC75FAAA3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10100"/>
            <a:ext cx="5095875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82E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82E40"/>
                </a:solidFill>
                <a:latin typeface="Helvetica Neue"/>
                <a:ea typeface="Helvetica Neue"/>
                <a:cs typeface="Helvetica Neue"/>
              </a:rPr>
              <a:t>Site-specific update and cleanup behavior inside launch scripts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12222A-3FB8-4A98-9ADB-BD676EBB4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71700"/>
            <a:ext cx="5143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82E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82E40"/>
                </a:solidFill>
                <a:latin typeface="Helvetica Neue"/>
                <a:ea typeface="Helvetica Neue"/>
                <a:cs typeface="Helvetica Neue"/>
              </a:rPr>
              <a:t>One coordinator consumes completed LUND runs and submits one array per sample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ED2255-290D-4ECA-936E-C86B74DF1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90900"/>
            <a:ext cx="5143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82E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82E40"/>
                </a:solidFill>
                <a:latin typeface="Helvetica Neue"/>
                <a:ea typeface="Helvetica Neue"/>
                <a:cs typeface="Helvetica Neue"/>
              </a:rPr>
              <a:t>Manifest-driven counts, validated GCARD/YAML inputs and selected GEMC version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E00EB1-FA9B-4EA6-A695-639CAA769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610100"/>
            <a:ext cx="5143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82E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82E40"/>
                </a:solidFill>
                <a:latin typeface="Helvetica Neue"/>
                <a:ea typeface="Helvetica Neue"/>
                <a:cs typeface="Helvetica Neue"/>
              </a:rPr>
              <a:t>Preview by default, --execute for jobs. The ifarm checkout remains an intentional disposable mirror</a:t>
            </a:r>
          </a:p>
        </p:txBody>
      </p:sp>
    </p:spTree>
    <p:extLst>
      <p:ext uri="{BB962C8B-B14F-4D97-AF65-F5344CB8AC3E}">
        <p14:creationId xmlns:p14="http://schemas.microsoft.com/office/powerpoint/2010/main" val="30235272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7C3DCF-B379-417F-87BE-B5532FFC4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347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2E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82E40"/>
                </a:solidFill>
                <a:latin typeface="Helvetica Neue"/>
                <a:ea typeface="Helvetica Neue"/>
                <a:cs typeface="Helvetica Neue"/>
              </a:rPr>
              <a:t>Documented ownership and configuration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9A8397-2418-41C8-879A-43766B7CC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24840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64476A-9CD1-4164-909E-37739A5DC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38300"/>
            <a:ext cx="257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37C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37C87"/>
                </a:solidFill>
                <a:latin typeface="Helvetica Neue"/>
                <a:ea typeface="Helvetica Neue"/>
                <a:cs typeface="Helvetica Neue"/>
              </a:rPr>
              <a:t>Scientific settings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C3A37A-CF19-4F6C-9C94-B52BB5AB6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638300"/>
            <a:ext cx="8048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E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82E40"/>
                </a:solidFill>
                <a:latin typeface="Helvetica Neue"/>
                <a:ea typeface="Helvetica Neue"/>
                <a:cs typeface="Helvetica Neue"/>
              </a:rPr>
              <a:t>config/samples/*.conf holds beam, target, channel, event counts and sampling choices.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BD29CD-B566-414B-B059-239591C13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14625"/>
            <a:ext cx="257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37C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37C87"/>
                </a:solidFill>
                <a:latin typeface="Helvetica Neue"/>
                <a:ea typeface="Helvetica Neue"/>
                <a:cs typeface="Helvetica Neue"/>
              </a:rPr>
              <a:t>Build and submission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0CB925-C479-4A0C-8CB2-A2B74D799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714625"/>
            <a:ext cx="8048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E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82E40"/>
                </a:solidFill>
                <a:latin typeface="Helvetica Neue"/>
                <a:ea typeface="Helvetica Neue"/>
                <a:cs typeface="Helvetica Neue"/>
              </a:rPr>
              <a:t>config/run.json controls builds. config/submission.conf and CLI overrides control job setup.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7796D5-E24C-4207-B81E-F6895EAA7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90950"/>
            <a:ext cx="257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37C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37C87"/>
                </a:solidFill>
                <a:latin typeface="Helvetica Neue"/>
                <a:ea typeface="Helvetica Neue"/>
                <a:cs typeface="Helvetica Neue"/>
              </a:rPr>
              <a:t>Maintained code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EA5ECC-AD63-4E11-BEB5-ED8D9A1E9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790950"/>
            <a:ext cx="8048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E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82E40"/>
                </a:solidFill>
                <a:latin typeface="Helvetica Neue"/>
                <a:ea typeface="Helvetica Neue"/>
                <a:cs typeface="Helvetica Neue"/>
              </a:rPr>
              <a:t>Purpose and workflow descriptions, function contracts, named regions and formatter rules make responsibilities explicit.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B3EDB4-182B-4BEF-8FFC-BD53EFEB9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67275"/>
            <a:ext cx="257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37C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37C87"/>
                </a:solidFill>
                <a:latin typeface="Helvetica Neue"/>
                <a:ea typeface="Helvetica Neue"/>
                <a:cs typeface="Helvetica Neue"/>
              </a:rPr>
              <a:t>Protected sources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CBC00C-1AE3-4C94-994E-EE2AF4A64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867275"/>
            <a:ext cx="8048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E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82E40"/>
                </a:solidFill>
                <a:latin typeface="Helvetica Neue"/>
                <a:ea typeface="Helvetica Neue"/>
                <a:cs typeface="Helvetica Neue"/>
              </a:rPr>
              <a:t>Legacy trees, external target geometry, the job payload and detector resources remain protected references.</a:t>
            </a:r>
          </a:p>
        </p:txBody>
      </p:sp>
    </p:spTree>
    <p:extLst>
      <p:ext uri="{BB962C8B-B14F-4D97-AF65-F5344CB8AC3E}">
        <p14:creationId xmlns:p14="http://schemas.microsoft.com/office/powerpoint/2010/main" val="53496081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94DE91-A686-43D9-BBF1-15E74D4D0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347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2E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82E40"/>
                </a:solidFill>
                <a:latin typeface="Helvetica Neue"/>
                <a:ea typeface="Helvetica Neue"/>
                <a:cs typeface="Helvetica Neue"/>
              </a:rPr>
              <a:t>Validation coverage and remaining work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F6CBB3-F768-4BEA-9C90-4CBFD59FE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24840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741C5E-52CF-48AA-8374-BBE727872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28775"/>
            <a:ext cx="514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37C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37C87"/>
                </a:solidFill>
                <a:latin typeface="Helvetica Neue"/>
                <a:ea typeface="Helvetica Neue"/>
                <a:cs typeface="Helvetica Neue"/>
              </a:rPr>
              <a:t>Implemented checks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254005-D797-40EA-8E84-10492EA40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86000"/>
            <a:ext cx="51435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E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82E40"/>
                </a:solidFill>
                <a:latin typeface="Helvetica Neue"/>
                <a:ea typeface="Helvetica Neue"/>
                <a:cs typeface="Helvetica Neue"/>
              </a:rPr>
              <a:t>LUND records and legacy comparisons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82E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82E40"/>
                </a:solidFill>
                <a:latin typeface="Helvetica Neue"/>
                <a:ea typeface="Helvetica Neue"/>
                <a:cs typeface="Helvetica Neue"/>
              </a:rPr>
              <a:t>Momentum distribution regressions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82E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82E40"/>
                </a:solidFill>
                <a:latin typeface="Helvetica Neue"/>
                <a:ea typeface="Helvetica Neue"/>
                <a:cs typeface="Helvetica Neue"/>
              </a:rPr>
              <a:t>Monitoring, input failures and partial files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82E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82E40"/>
                </a:solidFill>
                <a:latin typeface="Helvetica Neue"/>
                <a:ea typeface="Helvetica Neue"/>
                <a:cs typeface="Helvetica Neue"/>
              </a:rPr>
              <a:t>Submission arguments and launcher behavior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6C8357-E41B-44F4-94EA-C760DD73C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628775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37C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37C87"/>
                </a:solidFill>
                <a:latin typeface="Helvetica Neue"/>
                <a:ea typeface="Helvetica Neue"/>
                <a:cs typeface="Helvetica Neue"/>
              </a:rPr>
              <a:t>Limits that remain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935A0E-4309-4127-B782-53C334BA2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286000"/>
            <a:ext cx="4953000" cy="290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82E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182E40"/>
                </a:solidFill>
                <a:latin typeface="Helvetica Neue"/>
                <a:ea typeface="Helvetica Neue"/>
                <a:cs typeface="Helvetica Neue"/>
              </a:rPr>
              <a:t>FD pion and all CD modes still need full distribution and production validation.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182E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182E40"/>
                </a:solidFill>
                <a:latin typeface="Helvetica Neue"/>
                <a:ea typeface="Helvetica Neue"/>
                <a:cs typeface="Helvetica Neue"/>
              </a:rPr>
              <a:t>Detector equivalence requires matched GEMC and reconstruction runs on ifarm.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BC0B1C-B5A8-4928-A28B-357434E0A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67350"/>
            <a:ext cx="49530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rPr>
              <a:t>Implemented test coverage does not imply identical HIPO output or final acceptance maps.</a:t>
            </a:r>
          </a:p>
        </p:txBody>
      </p:sp>
    </p:spTree>
    <p:extLst>
      <p:ext uri="{BB962C8B-B14F-4D97-AF65-F5344CB8AC3E}">
        <p14:creationId xmlns:p14="http://schemas.microsoft.com/office/powerpoint/2010/main" val="157018896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2026-09-21T19:18:10.2760000Z</dcterms:created>
  <dcterms:modified xsi:type="dcterms:W3CDTF">2026-09-21T19:18:10.2760000Z</dcterms:modified>
</coreProperties>
</file>